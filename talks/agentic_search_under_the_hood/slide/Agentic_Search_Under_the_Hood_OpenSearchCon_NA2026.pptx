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4" r:id="rId2"/>
  </p:sldMasterIdLst>
  <p:notesMasterIdLst>
    <p:notesMasterId r:id="rId39"/>
  </p:notesMasterIdLst>
  <p:sldIdLst>
    <p:sldId id="256" r:id="rId3"/>
    <p:sldId id="257" r:id="rId4"/>
    <p:sldId id="258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94" r:id="rId16"/>
    <p:sldId id="296" r:id="rId17"/>
    <p:sldId id="295" r:id="rId18"/>
    <p:sldId id="297" r:id="rId19"/>
    <p:sldId id="271" r:id="rId20"/>
    <p:sldId id="272" r:id="rId21"/>
    <p:sldId id="273" r:id="rId22"/>
    <p:sldId id="275" r:id="rId23"/>
    <p:sldId id="277" r:id="rId24"/>
    <p:sldId id="298" r:id="rId25"/>
    <p:sldId id="299" r:id="rId26"/>
    <p:sldId id="300" r:id="rId27"/>
    <p:sldId id="282" r:id="rId28"/>
    <p:sldId id="302" r:id="rId29"/>
    <p:sldId id="305" r:id="rId30"/>
    <p:sldId id="284" r:id="rId31"/>
    <p:sldId id="303" r:id="rId32"/>
    <p:sldId id="283" r:id="rId33"/>
    <p:sldId id="285" r:id="rId34"/>
    <p:sldId id="286" r:id="rId35"/>
    <p:sldId id="287" r:id="rId36"/>
    <p:sldId id="307" r:id="rId37"/>
    <p:sldId id="306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56mqjPzynyLRL3Vq7tB93F2H9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395A"/>
    <a:srgbClr val="5B2032"/>
    <a:srgbClr val="CEE4F1"/>
    <a:srgbClr val="3070B5"/>
    <a:srgbClr val="8F24FF"/>
    <a:srgbClr val="340093"/>
    <a:srgbClr val="4D00D5"/>
    <a:srgbClr val="1B6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77260"/>
  </p:normalViewPr>
  <p:slideViewPr>
    <p:cSldViewPr snapToGrid="0" showGuides="1">
      <p:cViewPr varScale="1">
        <p:scale>
          <a:sx n="97" d="100"/>
          <a:sy n="97" d="100"/>
        </p:scale>
        <p:origin x="236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5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SLIDE 1 — TITLE (~30 sec)</a:t>
            </a:r>
          </a:p>
          <a:p>
            <a:r>
              <a:rPr dirty="0"/>
              <a:t>"Good morning/afternoon. First a brief introduction, then we will build a mental model of the required components, run a chatbot, and trace the request through ml-commons."</a:t>
            </a:r>
          </a:p>
          <a:p>
            <a:r>
              <a:rPr dirty="0"/>
              <a:t>"Flow and Plan–Execute–Reflect are available in the appendix if time permits."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 — SPEAKER INTRODUCTION (~30 sec)</a:t>
            </a:r>
          </a:p>
          <a:p>
            <a:r>
              <a:t>"I’m Abdul Muneer, an open source developer at NetApp Instaclustr."</a:t>
            </a:r>
          </a:p>
          <a:p>
            <a:r>
              <a:t>"I maintain OpenSearch ml-commons and am an OpenJDK committer."</a:t>
            </a:r>
          </a:p>
          <a:p>
            <a:r>
              <a:t>Keep this short and move to today’s journey.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 — TODAY’S JOURNEY (~1 min)</a:t>
            </a:r>
          </a:p>
          <a:p>
            <a:r>
              <a:t>1. Define agentic search and its required components.</a:t>
            </a:r>
          </a:p>
          <a:p>
            <a:r>
              <a:t>2. Use those components in the live chatbot tutorial.</a:t>
            </a:r>
          </a:p>
          <a:p>
            <a:r>
              <a:t>3. Follow the request from REST to the selected runner.</a:t>
            </a:r>
          </a:p>
          <a:p>
            <a:r>
              <a:t>4. Inspect the conversational ReAct loop in detail.</a:t>
            </a:r>
          </a:p>
          <a:p>
            <a:r>
              <a:t>"The ordering is deliberate: every class in the second half maps to behavior already visible in the demo."</a:t>
            </a:r>
          </a:p>
          <a:p>
            <a:r>
              <a:t>Flow and PER details are optional appendix material.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 — REQUIRED BUILDING BLOCKS (~3 min)</a:t>
            </a:r>
          </a:p>
          <a:p>
            <a:r>
              <a:t>DATA — Indices, mappings, and content are the grounding source.</a:t>
            </a:r>
          </a:p>
          <a:p>
            <a:r>
              <a:t>CONNECTOR — Describes access to an external service and stores credentials securely.</a:t>
            </a:r>
          </a:p>
          <a:p>
            <a:r>
              <a:t>MODEL — The LLM understands the question, selects tools, and generates the answer.</a:t>
            </a:r>
          </a:p>
          <a:p>
            <a:r>
              <a:t>AGENT — Binds orchestration type, model, prompt, tools, memory, and limits.</a:t>
            </a:r>
          </a:p>
          <a:p>
            <a:r>
              <a:t>TOOLS — Permitted actions: native OpenSearch operations or external MCP capabilities.</a:t>
            </a:r>
          </a:p>
          <a:p>
            <a:r>
              <a:t>MEMORY — Optional conversation state for contextual follow-ups.</a:t>
            </a:r>
          </a:p>
          <a:p>
            <a:r>
              <a:t>Key line: "The agent is configuration plus orchestration—not the model itself."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7 — CONNECTORS (~2 min)</a:t>
            </a:r>
          </a:p>
          <a:p>
            <a:r>
              <a:t>MODEL CONNECTOR — Reaches hosted inference; contains protocol, endpoint, parameters, and credentials.</a:t>
            </a:r>
          </a:p>
          <a:p>
            <a:r>
              <a:t>MCP CONNECTOR — Reaches an MCP server exposing tool names, descriptions, and schemas.</a:t>
            </a:r>
          </a:p>
          <a:p>
            <a:r>
              <a:t>SECURITY — Credentials belong to the connector, not the agent, and are encrypted at rest. Tenant identity is propagated during credential loading/decryption.</a:t>
            </a:r>
          </a:p>
          <a:p>
            <a:r>
              <a:t>Distinction: a connector establishes access; a model or tool supplies capability.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8 — MODELS (~2 min)</a:t>
            </a:r>
          </a:p>
          <a:p>
            <a:r>
              <a:t>"A connector alone does not give an agent a model_id. Registration gives the remote capability a stable OpenSearch identity."</a:t>
            </a:r>
          </a:p>
          <a:p>
            <a:r>
              <a:t>CONNECT — Define provider access.</a:t>
            </a:r>
          </a:p>
          <a:p>
            <a:r>
              <a:t>REGISTER — Obtain model_id.</a:t>
            </a:r>
          </a:p>
          <a:p>
            <a:r>
              <a:t>INVOKE — The runner delegates through MLPredictionTaskAction.</a:t>
            </a:r>
          </a:p>
          <a:p>
            <a:r>
              <a:t>"FunctionCallingFactory keeps provider-specific function-calling formats out of orchestration logic."</a:t>
            </a:r>
          </a:p>
          <a:p>
            <a:r>
              <a:t>Show where the demo agent references the Bedrock model_id.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9 — AGENT TYPES (~3 min)</a:t>
            </a:r>
          </a:p>
          <a:p>
            <a:r>
              <a:t>"The current MLAgentType enum contains six types. MCP is integration, not an agent type."</a:t>
            </a:r>
          </a:p>
          <a:p>
            <a:r>
              <a:t>CONVERSATIONAL — Adaptive ReAct with model-selected tools and memory.</a:t>
            </a:r>
          </a:p>
          <a:p>
            <a:r>
              <a:t>FLOW — Fixed tool order and output chaining.</a:t>
            </a:r>
          </a:p>
          <a:p>
            <a:r>
              <a:t>CONVERSATIONAL_FLOW — Flow plus conversation context.</a:t>
            </a:r>
          </a:p>
          <a:p>
            <a:r>
              <a:t>PLAN_EXECUTE_AND_REFLECT — Planner delegates steps and reflects.</a:t>
            </a:r>
          </a:p>
          <a:p>
            <a:r>
              <a:t>CONVERSATIONAL_V2 — Message-centric standardized architecture.</a:t>
            </a:r>
          </a:p>
          <a:p>
            <a:r>
              <a:t>AG_UI — Streaming events for interactive UIs.</a:t>
            </a:r>
          </a:p>
          <a:p>
            <a:r>
              <a:t>"All share _execute; the selected MLAgentRunner differs."</a:t>
            </a:r>
          </a:p>
          <a:p>
            <a:r>
              <a:t>Keep Flow/PER internals for the appendix.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SLIDE 10 — TOOLS AND MEMORY (~2 min)</a:t>
            </a:r>
          </a:p>
          <a:p>
            <a:r>
              <a:rPr dirty="0"/>
              <a:t>"Tools define the operating boundary. If a capability is not exposed, the agent cannot invoke it."</a:t>
            </a:r>
          </a:p>
          <a:p>
            <a:r>
              <a:rPr dirty="0"/>
              <a:t>Native tools understand OpenSearch. MCP tools add external capability. Names, descriptions, and schemas influence model behavior.</a:t>
            </a:r>
          </a:p>
          <a:p>
            <a:r>
              <a:rPr dirty="0"/>
              <a:t>"Memory is separate from the LLM. The runner loads selected history and writes interactions back. Hooks can trim or transform context."</a:t>
            </a:r>
          </a:p>
          <a:p>
            <a:r>
              <a:rPr dirty="0"/>
              <a:t>Transition: "Here is the native tool catalog those agents actually bind."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11 — NATIVE TOOLS (~2 min)</a:t>
            </a:r>
          </a:p>
          <a:p>
            <a:r>
              <a:t>"These are the important tools an agent can bind."</a:t>
            </a:r>
          </a:p>
          <a:p>
            <a:r>
              <a:t>SEARCH CLUSTER — ListIndexTool, IndexMappingTool, SearchIndexTool, QueryPlanningTool, VisualizationTool.</a:t>
            </a:r>
          </a:p>
          <a:p>
            <a:r>
              <a:t>COMPOSE — MLModelTool, ConnectorTool, and AgentTool let one agent call models, remote APIs, or other agents.</a:t>
            </a:r>
          </a:p>
          <a:p>
            <a:r>
              <a:t>MCP — SSE and Streamable HTTP wrappers turn external MCP tools into the same Tool.run() contract.</a:t>
            </a:r>
          </a:p>
          <a:p>
            <a:r>
              <a:t>"The chatbot demo typically binds ListIndex, IndexMapping, and SearchIndex. QueryPlanning is the NL-to-DSL path."</a:t>
            </a:r>
          </a:p>
          <a:p>
            <a:r>
              <a:t>Do not read every card. Point at the groups, then move to the demo.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12 — LIVE CHATBOT DEMO</a:t>
            </a:r>
          </a:p>
          <a:p>
            <a:r>
              <a:t>"We have data, connector, model, agent, tools, and memory. Now we assemble them using the official build-chatbot tutorial."</a:t>
            </a:r>
          </a:p>
          <a:p>
            <a:r>
              <a:t>"Watch IDs flow: connector_id supports model registration; model_id is referenced by the agent; agent_id is used by _execute."</a:t>
            </a:r>
          </a:p>
          <a:p>
            <a:r>
              <a:t>Switch to the prepared terminal/browser.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13 — DEMO PATH (~10 min)</a:t>
            </a:r>
          </a:p>
          <a:p>
            <a:r>
              <a:t>1. CREATE CONNECTOR — Show endpoint/protocol and credential strategy; do not expose secrets.</a:t>
            </a:r>
          </a:p>
          <a:p>
            <a:r>
              <a:t>2. REGISTER MODEL — Capture model_id.</a:t>
            </a:r>
          </a:p>
          <a:p>
            <a:r>
              <a:t>3. REGISTER AGENT — type=conversational; model_id; native tools; memory.</a:t>
            </a:r>
          </a:p>
          <a:p>
            <a:r>
              <a:t>4. PREPARE DATA — Use searchable tutorial content.</a:t>
            </a:r>
          </a:p>
          <a:p>
            <a:r>
              <a:t>5. EXECUTE — POST /_plugins/_ml/agents/{agent_id}/_execute.</a:t>
            </a:r>
          </a:p>
          <a:p>
            <a:r>
              <a:t>Run one question and a memory-based follow-up.</a:t>
            </a:r>
          </a:p>
          <a:p>
            <a:r>
              <a:t>If time permits, use verbose=true and point out thought/action/observation. Promise to map it to code next.</a:t>
            </a:r>
          </a:p>
          <a:p>
            <a:r>
              <a:t>Keep known-good requests/responses as fallback.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— TECHNICAL DEEP DIVE (~30 sec)</a:t>
            </a:r>
          </a:p>
          <a:p>
            <a:r>
              <a:t>"The demo established the objects and visible behavior. Now follow the same _execute request under the hood."</a:t>
            </a:r>
          </a:p>
          <a:p>
            <a:r>
              <a:t>"First cover the path common to every type. Then stop at MLChatAgentRunner and inspect conversational orchestration."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15 — CONNECTOR HIERARCHY (~2 min)</a:t>
            </a:r>
          </a:p>
          <a:p>
            <a:r>
              <a:t>"A connector is a protocol plus a Java class. protocol in the document selects the implementation."</a:t>
            </a:r>
          </a:p>
          <a:p>
            <a:r>
              <a:t>Connector is the interface. AbstractConnector holds substitution, encrypt/decrypt, and payload validation.</a:t>
            </a:r>
          </a:p>
          <a:p>
            <a:r>
              <a:t>HTTP FAMILY — HttpConnector is protocol=http. AwsConnector (aws_sigv4) and GoogleCloudConnector extend it. The Bedrock demo uses AwsConnector.</a:t>
            </a:r>
          </a:p>
          <a:p>
            <a:r>
              <a:t>MCP FAMILY — McpConnector (mcp_sse) and McpStreamableHttpConnector extend AbstractConnector directly. These are tool discovery/invocation, not agent types.</a:t>
            </a:r>
          </a:p>
          <a:p>
            <a:r>
              <a:t>"Class loading is MLCommonsClassLoader.initConnector(protocol). New protocols add a class with @Connector, not a switch in the agent runner."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A6C56-02C5-3C05-933F-80E1ED47B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81A76-2BD5-ED84-CD9E-499B48E35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57297-A52E-F427-25C3-7DEAF862E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— TECHNICAL DEEP DIVE (~30 sec)</a:t>
            </a:r>
          </a:p>
          <a:p>
            <a:r>
              <a:t>"The demo established the objects and visible behavior. Now follow the same _execute request under the hood."</a:t>
            </a:r>
          </a:p>
          <a:p>
            <a:r>
              <a:t>"First cover the path common to every type. Then stop at MLChatAgentRunner and inspect conversational orchestration." </a:t>
            </a:r>
          </a:p>
        </p:txBody>
      </p:sp>
    </p:spTree>
    <p:extLst>
      <p:ext uri="{BB962C8B-B14F-4D97-AF65-F5344CB8AC3E}">
        <p14:creationId xmlns:p14="http://schemas.microsoft.com/office/powerpoint/2010/main" val="2115766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B5FE-5643-7CDD-60C0-B15A276B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C3948-A9C7-ADCD-2B76-5B6835A75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BAD1B-8E2B-354D-05E1-06E510762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— TECHNICAL DEEP DIVE (~30 sec)</a:t>
            </a:r>
          </a:p>
          <a:p>
            <a:r>
              <a:t>"The demo established the objects and visible behavior. Now follow the same _execute request under the hood."</a:t>
            </a:r>
          </a:p>
          <a:p>
            <a:r>
              <a:t>"First cover the path common to every type. Then stop at MLChatAgentRunner and inspect conversational orchestration." </a:t>
            </a:r>
          </a:p>
        </p:txBody>
      </p:sp>
    </p:spTree>
    <p:extLst>
      <p:ext uri="{BB962C8B-B14F-4D97-AF65-F5344CB8AC3E}">
        <p14:creationId xmlns:p14="http://schemas.microsoft.com/office/powerpoint/2010/main" val="30443689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D718-33A5-DE50-FB4C-C34B5700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DFE7A-4764-945C-F6A0-EA2BFEA86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B4DBE-339C-4957-79B2-1E108D749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— TECHNICAL DEEP DIVE (~30 sec)</a:t>
            </a:r>
          </a:p>
          <a:p>
            <a:r>
              <a:t>"The demo established the objects and visible behavior. Now follow the same _execute request under the hood."</a:t>
            </a:r>
          </a:p>
          <a:p>
            <a:r>
              <a:t>"First cover the path common to every type. Then stop at MLChatAgentRunner and inspect conversational orchestration." </a:t>
            </a:r>
          </a:p>
        </p:txBody>
      </p:sp>
    </p:spTree>
    <p:extLst>
      <p:ext uri="{BB962C8B-B14F-4D97-AF65-F5344CB8AC3E}">
        <p14:creationId xmlns:p14="http://schemas.microsoft.com/office/powerpoint/2010/main" val="3486172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DE2D4-5273-472F-5750-0102128DE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1286E-5F25-72D4-7614-C8BD2C5DB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EABF7-D44D-1EDD-3D89-E1E8880AF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— TECHNICAL DEEP DIVE (~30 sec)</a:t>
            </a:r>
          </a:p>
          <a:p>
            <a:r>
              <a:t>"The demo established the objects and visible behavior. Now follow the same _execute request under the hood."</a:t>
            </a:r>
          </a:p>
          <a:p>
            <a:r>
              <a:t>"First cover the path common to every type. Then stop at MLChatAgentRunner and inspect conversational orchestration." </a:t>
            </a:r>
          </a:p>
        </p:txBody>
      </p:sp>
    </p:spTree>
    <p:extLst>
      <p:ext uri="{BB962C8B-B14F-4D97-AF65-F5344CB8AC3E}">
        <p14:creationId xmlns:p14="http://schemas.microsoft.com/office/powerpoint/2010/main" val="3390180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16 — AGENT RUNNER HIERARCHY (~2 min)</a:t>
            </a:r>
          </a:p>
          <a:p>
            <a:r>
              <a:t>"MLAgentRunner is the strategy interface. getAgentRunner maps MLAgentType to a concrete class."</a:t>
            </a:r>
          </a:p>
          <a:p>
            <a:r>
              <a:t>V1 — MLChatAgentRunner, MLFlowAgentRunner, MLConversationalFlowAgentRunner, MLPlanExecuteAndReflectAgentRunner, and MLAGUIAgentRunner all implement the interface directly.</a:t>
            </a:r>
          </a:p>
          <a:p>
            <a:r>
              <a:t>V2 — AbstractV2AgentRunner holds shared message-centric setup; MLChatAgentRunnerV2 is the only subclass today.</a:t>
            </a:r>
          </a:p>
          <a:p>
            <a:r>
              <a:t>"The demo used CONVERSATIONAL, so the rest of the deep dive stays on MLChatAgentRunner."</a:t>
            </a:r>
          </a:p>
          <a:p>
            <a:r>
              <a:t>Do not walk constructors. Point at the switch in the next code slide.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17 — EXECUTION ARCHITECTURE (~2 min)</a:t>
            </a:r>
          </a:p>
          <a:p>
            <a:r>
              <a:t>REST creates AgentMLInput with FunctionName.AGENT.</a:t>
            </a:r>
          </a:p>
          <a:p>
            <a:r>
              <a:t>TransportExecuteTaskAction delegates to MLExecuteTaskRunner.</a:t>
            </a:r>
          </a:p>
          <a:p>
            <a:r>
              <a:t>MLExecuteTaskRunner handles dispatch, thread pool, hooks, and response wrapping.</a:t>
            </a:r>
          </a:p>
          <a:p>
            <a:r>
              <a:t>MLEngine uses generic execute(), not train(), predict(), or deploy().</a:t>
            </a:r>
          </a:p>
          <a:p>
            <a:r>
              <a:t>MLAgentExecutor loads the agent, prepares common services, and chooses a runner.</a:t>
            </a:r>
          </a:p>
          <a:p>
            <a:r>
              <a:t>Bottom row: all strategies sit behind MLAgentRunner.</a:t>
            </a:r>
          </a:p>
          <a:p>
            <a:r>
              <a:t>"MLAgentExecutor is engine/business logic, not a transport action." 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18 — CALL SEQUENCE (~3 min)</a:t>
            </a:r>
          </a:p>
          <a:p>
            <a:r>
              <a:t>1. REST calls client.execute(MLExecuteTaskAction).</a:t>
            </a:r>
          </a:p>
          <a:p>
            <a:r>
              <a:t>2. Transport action calls mlExecuteTaskRunner.run(AGENT, ...).</a:t>
            </a:r>
          </a:p>
          <a:p>
            <a:r>
              <a:t>3. Task runner calls mlEngine.execute(input, listener).</a:t>
            </a:r>
          </a:p>
          <a:p>
            <a:r>
              <a:t>4. MLEngineClassLoader resolves AGENT; MLEngine invokes MLAgentExecutor.execute().</a:t>
            </a:r>
          </a:p>
          <a:p>
            <a:r>
              <a:t>5. MLAgentExecutor calls getAgentRunner(type).run().</a:t>
            </a:r>
          </a:p>
          <a:p>
            <a:r>
              <a:t>"The response travels through ActionListener in reverse. Methods may return while inference/tool I/O is in flight; no transport thread waits synchronously."</a:t>
            </a:r>
          </a:p>
          <a:p>
            <a:r>
              <a:t>MLEngineClassLoader is dispatch machinery, not a separate service.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20 — AGENT TYPE ROUTING (~2 min)</a:t>
            </a:r>
          </a:p>
          <a:p>
            <a:r>
              <a:t>"Inside MLAgentExecutor, the loaded agent type selects the strategy."</a:t>
            </a:r>
          </a:p>
          <a:p>
            <a:r>
              <a:t>Summarize the six switch branches.</a:t>
            </a:r>
          </a:p>
          <a:p>
            <a:r>
              <a:t>"Nothing above this switch changes. REST, transport, MLEngine, common loading, and validation are reused."</a:t>
            </a:r>
          </a:p>
          <a:p>
            <a:r>
              <a:t>The slide code is condensed; actual constructors receive shared dependencies.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SLIDE 22 — </a:t>
            </a:r>
            <a:r>
              <a:rPr dirty="0" err="1"/>
              <a:t>MLAgentRunner</a:t>
            </a:r>
            <a:r>
              <a:rPr dirty="0"/>
              <a:t> CONTRACT (~2 min)</a:t>
            </a:r>
          </a:p>
          <a:p>
            <a:r>
              <a:rPr dirty="0"/>
              <a:t>"This interface is the seam between common execution and type-specific orchestration."</a:t>
            </a:r>
          </a:p>
          <a:p>
            <a:r>
              <a:rPr dirty="0"/>
              <a:t>The default non-streaming overload delegates to the channel-aware method.</a:t>
            </a:r>
          </a:p>
          <a:p>
            <a:r>
              <a:rPr dirty="0"/>
              <a:t>Every runner receives agent configuration, parameters, completion listener, and optional streaming channel.</a:t>
            </a:r>
          </a:p>
          <a:p>
            <a:r>
              <a:rPr dirty="0"/>
              <a:t>Dependencies are supplied when </a:t>
            </a:r>
            <a:r>
              <a:rPr dirty="0" err="1"/>
              <a:t>MLAgentExecutor</a:t>
            </a:r>
            <a:r>
              <a:rPr dirty="0"/>
              <a:t> constructs the runner.</a:t>
            </a:r>
          </a:p>
          <a:p>
            <a:r>
              <a:rPr dirty="0"/>
              <a:t>Extension point: implement </a:t>
            </a:r>
            <a:r>
              <a:rPr dirty="0" err="1"/>
              <a:t>MLAgentRunner</a:t>
            </a:r>
            <a:r>
              <a:rPr dirty="0"/>
              <a:t>, then add one route.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2D753-0481-26A4-A825-AB623F32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C08D6-D726-94BF-ADA9-80C60837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91557-2708-B4F2-B4AB-2EE0C44FC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— TECHNICAL DEEP DIVE (~30 sec)</a:t>
            </a:r>
          </a:p>
          <a:p>
            <a:r>
              <a:t>"The demo established the objects and visible behavior. Now follow the same _execute request under the hood."</a:t>
            </a:r>
          </a:p>
          <a:p>
            <a:r>
              <a:t>"First cover the path common to every type. Then stop at MLChatAgentRunner and inspect conversational orchestration." </a:t>
            </a:r>
          </a:p>
        </p:txBody>
      </p:sp>
    </p:spTree>
    <p:extLst>
      <p:ext uri="{BB962C8B-B14F-4D97-AF65-F5344CB8AC3E}">
        <p14:creationId xmlns:p14="http://schemas.microsoft.com/office/powerpoint/2010/main" val="2704156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EC91-71C4-F58F-42B8-A9354F62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7EEBD-6446-F0CE-BEB2-BB1821E24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1498C-7F8F-DA56-9132-DB2DB0351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— TECHNICAL DEEP DIVE (~30 sec)</a:t>
            </a:r>
          </a:p>
          <a:p>
            <a:r>
              <a:t>"The demo established the objects and visible behavior. Now follow the same _execute request under the hood."</a:t>
            </a:r>
          </a:p>
          <a:p>
            <a:r>
              <a:t>"First cover the path common to every type. Then stop at MLChatAgentRunner and inspect conversational orchestration." </a:t>
            </a:r>
          </a:p>
        </p:txBody>
      </p:sp>
    </p:spTree>
    <p:extLst>
      <p:ext uri="{BB962C8B-B14F-4D97-AF65-F5344CB8AC3E}">
        <p14:creationId xmlns:p14="http://schemas.microsoft.com/office/powerpoint/2010/main" val="31815615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BC846-CEC6-6500-D688-227B6C0E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96530-2915-F8B2-8D2A-4E0144ECE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8ACD1-351A-48CB-F3CD-0EA54861E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— TECHNICAL DEEP DIVE (~30 sec)</a:t>
            </a:r>
          </a:p>
          <a:p>
            <a:r>
              <a:t>"The demo established the objects and visible behavior. Now follow the same _execute request under the hood."</a:t>
            </a:r>
          </a:p>
          <a:p>
            <a:r>
              <a:t>"First cover the path common to every type. Then stop at MLChatAgentRunner and inspect conversational orchestration." </a:t>
            </a:r>
          </a:p>
        </p:txBody>
      </p:sp>
    </p:spTree>
    <p:extLst>
      <p:ext uri="{BB962C8B-B14F-4D97-AF65-F5344CB8AC3E}">
        <p14:creationId xmlns:p14="http://schemas.microsoft.com/office/powerpoint/2010/main" val="41919336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SLIDE 27 — MCP TOOL PATH (~2 min)</a:t>
            </a:r>
          </a:p>
          <a:p>
            <a:r>
              <a:rPr dirty="0"/>
              <a:t>"External MCP tools do not get a second </a:t>
            </a:r>
            <a:r>
              <a:rPr dirty="0" err="1"/>
              <a:t>ReAct</a:t>
            </a:r>
            <a:r>
              <a:rPr dirty="0"/>
              <a:t> loop. They join the same tool map."</a:t>
            </a:r>
          </a:p>
          <a:p>
            <a:r>
              <a:rPr dirty="0"/>
              <a:t>1. Agent parameters include </a:t>
            </a:r>
            <a:r>
              <a:rPr dirty="0" err="1"/>
              <a:t>mcp_connectors</a:t>
            </a:r>
            <a:r>
              <a:rPr dirty="0"/>
              <a:t> with </a:t>
            </a:r>
            <a:r>
              <a:rPr dirty="0" err="1"/>
              <a:t>connector_id</a:t>
            </a:r>
            <a:r>
              <a:rPr dirty="0"/>
              <a:t>, optional </a:t>
            </a:r>
            <a:r>
              <a:rPr dirty="0" err="1"/>
              <a:t>tool_filters</a:t>
            </a:r>
            <a:r>
              <a:rPr dirty="0"/>
              <a:t> and </a:t>
            </a:r>
            <a:r>
              <a:rPr dirty="0" err="1"/>
              <a:t>tool_descriptions</a:t>
            </a:r>
            <a:r>
              <a:rPr dirty="0"/>
              <a:t>.</a:t>
            </a:r>
          </a:p>
          <a:p>
            <a:r>
              <a:rPr dirty="0"/>
              <a:t>2. </a:t>
            </a:r>
            <a:r>
              <a:rPr dirty="0" err="1"/>
              <a:t>McpConnectorExecutor</a:t>
            </a:r>
            <a:r>
              <a:rPr dirty="0"/>
              <a:t> or </a:t>
            </a:r>
            <a:r>
              <a:rPr dirty="0" err="1"/>
              <a:t>McpStreamableHttpConnectorExecutor</a:t>
            </a:r>
            <a:r>
              <a:rPr dirty="0"/>
              <a:t> decrypts the connector and calls </a:t>
            </a:r>
            <a:r>
              <a:rPr dirty="0" err="1"/>
              <a:t>listTools</a:t>
            </a:r>
            <a:r>
              <a:rPr dirty="0"/>
              <a:t>().</a:t>
            </a:r>
          </a:p>
          <a:p>
            <a:r>
              <a:rPr dirty="0"/>
              <a:t>3. Each remote tool is an </a:t>
            </a:r>
            <a:r>
              <a:rPr dirty="0" err="1"/>
              <a:t>MLToolSpec</a:t>
            </a:r>
            <a:r>
              <a:rPr dirty="0"/>
              <a:t> of type </a:t>
            </a:r>
            <a:r>
              <a:rPr dirty="0" err="1"/>
              <a:t>McpSseTool</a:t>
            </a:r>
            <a:r>
              <a:rPr dirty="0"/>
              <a:t> or </a:t>
            </a:r>
            <a:r>
              <a:rPr dirty="0" err="1"/>
              <a:t>McpStreamableHttpTool</a:t>
            </a:r>
            <a:r>
              <a:rPr dirty="0"/>
              <a:t>, with the live </a:t>
            </a:r>
            <a:r>
              <a:rPr dirty="0" err="1"/>
              <a:t>McpSyncClient</a:t>
            </a:r>
            <a:r>
              <a:rPr dirty="0"/>
              <a:t> attached as a runtime resource.</a:t>
            </a:r>
          </a:p>
          <a:p>
            <a:r>
              <a:rPr dirty="0"/>
              <a:t>4. </a:t>
            </a:r>
            <a:r>
              <a:rPr dirty="0" err="1"/>
              <a:t>createTools</a:t>
            </a:r>
            <a:r>
              <a:rPr dirty="0"/>
              <a:t>() instantiates them beside </a:t>
            </a:r>
            <a:r>
              <a:rPr dirty="0" err="1"/>
              <a:t>ListIndexTool</a:t>
            </a:r>
            <a:r>
              <a:rPr dirty="0"/>
              <a:t> and </a:t>
            </a:r>
            <a:r>
              <a:rPr dirty="0" err="1"/>
              <a:t>SearchIndexTool</a:t>
            </a:r>
            <a:r>
              <a:rPr dirty="0"/>
              <a:t>.</a:t>
            </a:r>
          </a:p>
          <a:p>
            <a:r>
              <a:rPr dirty="0"/>
              <a:t>5. The LLM selects by name; </a:t>
            </a:r>
            <a:r>
              <a:rPr dirty="0" err="1"/>
              <a:t>Tool.run</a:t>
            </a:r>
            <a:r>
              <a:rPr dirty="0"/>
              <a:t>() issues </a:t>
            </a:r>
            <a:r>
              <a:rPr dirty="0" err="1"/>
              <a:t>callTool</a:t>
            </a:r>
            <a:r>
              <a:rPr dirty="0"/>
              <a:t>.</a:t>
            </a:r>
          </a:p>
          <a:p>
            <a:r>
              <a:rPr dirty="0"/>
              <a:t>"If listing fails, chat continues with native tools only. Use List Tools to debug the connector independently." 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F1BD0-03B1-2AAD-C101-78B77E49F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64F46-21FB-ABC2-E741-C6971E53F4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5BF00-20C5-16AD-40AF-8CB59DECD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— TECHNICAL DEEP DIVE (~30 sec)</a:t>
            </a:r>
          </a:p>
          <a:p>
            <a:r>
              <a:t>"The demo established the objects and visible behavior. Now follow the same _execute request under the hood."</a:t>
            </a:r>
          </a:p>
          <a:p>
            <a:r>
              <a:t>"First cover the path common to every type. Then stop at MLChatAgentRunner and inspect conversational orchestration." </a:t>
            </a:r>
          </a:p>
        </p:txBody>
      </p:sp>
    </p:spTree>
    <p:extLst>
      <p:ext uri="{BB962C8B-B14F-4D97-AF65-F5344CB8AC3E}">
        <p14:creationId xmlns:p14="http://schemas.microsoft.com/office/powerpoint/2010/main" val="647622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31 — CHAT MCP LISTING SEQUENCE (~2 min)</a:t>
            </a:r>
          </a:p>
          <a:p>
            <a:r>
              <a:t>Same visual language as the _execute call-sequence slide.</a:t>
            </a:r>
          </a:p>
          <a:p>
            <a:r>
              <a:t>CHAT is MLChatAgentRunner.processUnifiedTools.</a:t>
            </a:r>
          </a:p>
          <a:p>
            <a:r>
              <a:t>UTILS is AgentUtils.getMcpToolSpecs — fans out per mcp_connectors entry.</a:t>
            </a:r>
          </a:p>
          <a:p>
            <a:r>
              <a:t>FROM is getMCPToolSpecsFromConnector.</a:t>
            </a:r>
          </a:p>
          <a:p>
            <a:r>
              <a:t>STORE is getConnector plus decrypt.</a:t>
            </a:r>
          </a:p>
          <a:p>
            <a:r>
              <a:t>EXEC is McpConnectorExecutor or McpStreamableHttpConnectorExecutor.</a:t>
            </a:r>
          </a:p>
          <a:p>
            <a:r>
              <a:t>MCP is the remote listTools() call; each tool becomes an MLToolSpec with the live McpSyncClient.</a:t>
            </a:r>
          </a:p>
          <a:p>
            <a:r>
              <a:t>"Return path is completeIfLast, then addAll into native backend tools and createTools."</a:t>
            </a:r>
          </a:p>
          <a:p>
            <a:r>
              <a:t>Listing is async. Soft failures continue with native tools only.</a:t>
            </a:r>
          </a:p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29 — MCP INVOKE CODE (~2 min)</a:t>
            </a:r>
          </a:p>
          <a:p>
            <a:r>
              <a:t>Chat runner: getMcpToolSpecs then addAll then createTools.</a:t>
            </a:r>
          </a:p>
          <a:p>
            <a:r>
              <a:t>McpSseTool.run parses JSON arguments and calls mcpSyncClient.callTool(name, args).</a:t>
            </a:r>
          </a:p>
          <a:p>
            <a:r>
              <a:t>"From the model's point of view this is just another tool. The difference is the transport." 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CF473-0B09-D782-999B-C3861D835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85375-1F64-D41F-6C7D-7DECF42AF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0D8DF-481A-8DCE-D2BC-5C4650670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29 — MCP INVOKE CODE (~2 min)</a:t>
            </a:r>
          </a:p>
          <a:p>
            <a:r>
              <a:t>Chat runner: getMcpToolSpecs then addAll then createTools.</a:t>
            </a:r>
          </a:p>
          <a:p>
            <a:r>
              <a:t>McpSseTool.run parses JSON arguments and calls mcpSyncClient.callTool(name, args).</a:t>
            </a:r>
          </a:p>
          <a:p>
            <a:r>
              <a:t>"From the model's point of view this is just another tool. The difference is the transport." </a:t>
            </a:r>
          </a:p>
        </p:txBody>
      </p:sp>
    </p:spTree>
    <p:extLst>
      <p:ext uri="{BB962C8B-B14F-4D97-AF65-F5344CB8AC3E}">
        <p14:creationId xmlns:p14="http://schemas.microsoft.com/office/powerpoint/2010/main" val="1188287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28 — MCP DISCOVERY CODE (~2 min)</a:t>
            </a:r>
          </a:p>
          <a:p>
            <a:r>
              <a:t>Walk listTools → MLToolSpec. Point at type, name, description, input_schema, and addRuntimeResource.</a:t>
            </a:r>
          </a:p>
          <a:p>
            <a:r>
              <a:t>"The client is created at discovery time and reused at invoke. That is why MCP tools are not a REST predict call."</a:t>
            </a:r>
          </a:p>
          <a:p>
            <a:r>
              <a:t>Mention mcp_sse vs mcp_streamable_http as protocol, not agent type.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30 — EXTEND AND DEBUG (~2 min)</a:t>
            </a:r>
          </a:p>
          <a:p>
            <a:r>
              <a:t>1. Verify model_id, type, tools, MCP connectors, prompt, and limits.</a:t>
            </a:r>
          </a:p>
          <a:p>
            <a:r>
              <a:t>2. Run with verbose=true.</a:t>
            </a:r>
          </a:p>
          <a:p>
            <a:r>
              <a:t>3. Validate MCP independently with List Tools.</a:t>
            </a:r>
          </a:p>
          <a:p>
            <a:r>
              <a:t>4. New orchestration: implement MLAgentRunner.</a:t>
            </a:r>
          </a:p>
          <a:p>
            <a:r>
              <a:t>5. New action: implement Tool and register its factory.</a:t>
            </a:r>
          </a:p>
          <a:p>
            <a:r>
              <a:t>Common failures: wrong tool → descriptions/prompt; invalid arguments → schema; exhausted iterations → convergence; MCP load → endpoint/credentials/tenant/protocol.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34 — KEY TAKEAWAYS (~1 min)</a:t>
            </a:r>
          </a:p>
          <a:p>
            <a:r>
              <a:t>1. Agentic search composes data, connector, model, agent, tools, and memory.</a:t>
            </a:r>
          </a:p>
          <a:p>
            <a:r>
              <a:t>2. One shared path: REST, transport action, MLEngine, MLAgentExecutor, then the runner.</a:t>
            </a:r>
          </a:p>
          <a:p>
            <a:r>
              <a:t>3. Orchestration differs only in the runner: ReAct, Flow, Conversational Flow, PER.</a:t>
            </a:r>
          </a:p>
          <a:p>
            <a:r>
              <a:t>4. Tool.run() hides native versus MCP; MCP adds discovery, not a second loop.</a:t>
            </a:r>
          </a:p>
          <a:p>
            <a:r>
              <a:t>"Verbose traces, discovery APIs, and open source make behavior inspectable."</a:t>
            </a:r>
          </a:p>
          <a:p>
            <a:r>
              <a:t>Appendix has the strategy comparison plus PER and Flow code if there is time.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SLIDE 30 — Q&amp;A</a:t>
            </a:r>
          </a:p>
          <a:p>
            <a:r>
              <a:rPr dirty="0"/>
              <a:t>"Thank you. Questions about the chatbot, execution path, conversational agents, MCP, or contributing?"</a:t>
            </a:r>
          </a:p>
          <a:p>
            <a:r>
              <a:rPr dirty="0"/>
              <a:t>Point to the QR codes: Demo on the left, LinkedIn on the right.</a:t>
            </a:r>
          </a:p>
          <a:p>
            <a:r>
              <a:rPr dirty="0"/>
              <a:t>Q: Is </a:t>
            </a:r>
            <a:r>
              <a:rPr dirty="0" err="1"/>
              <a:t>MLAgentExecutor</a:t>
            </a:r>
            <a:r>
              <a:rPr dirty="0"/>
              <a:t> transport? A: No; it is engine/business logic.</a:t>
            </a:r>
          </a:p>
          <a:p>
            <a:r>
              <a:rPr dirty="0"/>
              <a:t>Q: Does </a:t>
            </a:r>
            <a:r>
              <a:rPr dirty="0" err="1"/>
              <a:t>MLEngine</a:t>
            </a:r>
            <a:r>
              <a:rPr dirty="0"/>
              <a:t> predict for agents? A: No; agents use execute(), resolving AGENT to </a:t>
            </a:r>
            <a:r>
              <a:rPr dirty="0" err="1"/>
              <a:t>MLAgentExecutor</a:t>
            </a:r>
            <a:r>
              <a:rPr dirty="0"/>
              <a:t>.</a:t>
            </a:r>
          </a:p>
          <a:p>
            <a:r>
              <a:rPr dirty="0"/>
              <a:t>Q: MCP versus native? A: Discovery differs; both become tool specs selected by the runner.</a:t>
            </a:r>
          </a:p>
          <a:p>
            <a:r>
              <a:rPr dirty="0"/>
              <a:t>Q: Why not detail Flow/PER? A: They are alternative strategies; see appendix.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03C2-C4C0-BA9F-A6ED-D32896C9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2C443-6D7E-E96C-591F-37476B63E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B5B3B-8749-AD32-246F-E34FE1DC8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34 — KEY TAKEAWAYS (~1 min)</a:t>
            </a:r>
          </a:p>
          <a:p>
            <a:r>
              <a:t>1. Agentic search composes data, connector, model, agent, tools, and memory.</a:t>
            </a:r>
          </a:p>
          <a:p>
            <a:r>
              <a:t>2. One shared path: REST, transport action, MLEngine, MLAgentExecutor, then the runner.</a:t>
            </a:r>
          </a:p>
          <a:p>
            <a:r>
              <a:t>3. Orchestration differs only in the runner: ReAct, Flow, Conversational Flow, PER.</a:t>
            </a:r>
          </a:p>
          <a:p>
            <a:r>
              <a:t>4. Tool.run() hides native versus MCP; MCP adds discovery, not a second loop.</a:t>
            </a:r>
          </a:p>
          <a:p>
            <a:r>
              <a:t>"Verbose traces, discovery APIs, and open source make behavior inspectable."</a:t>
            </a:r>
          </a:p>
          <a:p>
            <a:r>
              <a:t>Appendix has the strategy comparison plus PER and Flow code if there is time.</a:t>
            </a:r>
          </a:p>
        </p:txBody>
      </p:sp>
    </p:spTree>
    <p:extLst>
      <p:ext uri="{BB962C8B-B14F-4D97-AF65-F5344CB8AC3E}">
        <p14:creationId xmlns:p14="http://schemas.microsoft.com/office/powerpoint/2010/main" val="416734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28B5-642F-D84D-F727-DCC2E9DD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5B54C-1CEB-97E1-2273-76DAEFF9E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F695B-DDA3-8FF0-B53F-252D384D4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6293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CEE4F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8"/>
          <p:cNvSpPr txBox="1">
            <a:spLocks noGrp="1"/>
          </p:cNvSpPr>
          <p:nvPr>
            <p:ph type="title"/>
          </p:nvPr>
        </p:nvSpPr>
        <p:spPr>
          <a:xfrm>
            <a:off x="570023" y="2186805"/>
            <a:ext cx="7497417" cy="2146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0" tIns="288000" rIns="288000" bIns="2880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rgbClr val="15395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Google Shape;8;p8"/>
          <p:cNvSpPr txBox="1">
            <a:spLocks noGrp="1"/>
          </p:cNvSpPr>
          <p:nvPr>
            <p:ph type="body" idx="1"/>
          </p:nvPr>
        </p:nvSpPr>
        <p:spPr>
          <a:xfrm>
            <a:off x="564572" y="4333658"/>
            <a:ext cx="7478367" cy="4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BBC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070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BBC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BBC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BBC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BBC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037ED52A-238E-3EAE-DA21-E09890EB5B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3297" y="-492543"/>
            <a:ext cx="4024873" cy="253239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71F1F5-318F-6B50-652B-46262CD156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2896" y="2617556"/>
            <a:ext cx="5499444" cy="424742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C2ACF-3D23-94FB-CE37-7A1F7EF90C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1777" r="32073"/>
          <a:stretch>
            <a:fillRect/>
          </a:stretch>
        </p:blipFill>
        <p:spPr>
          <a:xfrm>
            <a:off x="10772812" y="0"/>
            <a:ext cx="1419188" cy="147506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5CE3F71-162F-A7EC-AF8F-9FFBE4E094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3835" y="2610576"/>
            <a:ext cx="1189007" cy="74737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2F7713F-24CA-1AB6-6BB3-66A5A5D403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8329" y="3862456"/>
            <a:ext cx="1005615" cy="471202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solidFill>
          <a:srgbClr val="CEE4F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>
            <a:spLocks noGrp="1"/>
          </p:cNvSpPr>
          <p:nvPr>
            <p:ph type="title"/>
          </p:nvPr>
        </p:nvSpPr>
        <p:spPr>
          <a:xfrm>
            <a:off x="333845" y="281562"/>
            <a:ext cx="9461431" cy="40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15395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" name="Google Shape;38;p13">
            <a:extLst>
              <a:ext uri="{FF2B5EF4-FFF2-40B4-BE49-F238E27FC236}">
                <a16:creationId xmlns:a16="http://schemas.microsoft.com/office/drawing/2014/main" id="{B78A6E1D-63A0-2994-A2BA-E21B26459B86}"/>
              </a:ext>
            </a:extLst>
          </p:cNvPr>
          <p:cNvSpPr/>
          <p:nvPr userDrawn="1"/>
        </p:nvSpPr>
        <p:spPr>
          <a:xfrm>
            <a:off x="0" y="6363095"/>
            <a:ext cx="12192000" cy="58545"/>
          </a:xfrm>
          <a:prstGeom prst="rect">
            <a:avLst/>
          </a:prstGeom>
          <a:solidFill>
            <a:srgbClr val="5B2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0" y="985449"/>
            <a:ext cx="12192000" cy="54352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body" idx="1"/>
          </p:nvPr>
        </p:nvSpPr>
        <p:spPr>
          <a:xfrm>
            <a:off x="333845" y="1457889"/>
            <a:ext cx="11000906" cy="467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70B5"/>
              </a:buClr>
              <a:buSzPts val="2800"/>
              <a:buFont typeface="Arial" panose="020B0604020202020204" pitchFamily="34" charset="0"/>
              <a:buChar char="•"/>
              <a:defRPr sz="2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1FF21-E5B0-F711-8143-60176D698B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895" b="31764"/>
          <a:stretch>
            <a:fillRect/>
          </a:stretch>
        </p:blipFill>
        <p:spPr>
          <a:xfrm>
            <a:off x="9795276" y="254506"/>
            <a:ext cx="2148005" cy="4911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0500874-B19E-CB0F-1201-25B1C8AC34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5276" y="5006923"/>
            <a:ext cx="2396723" cy="185107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DB8A5A-8DA4-2683-A5B5-69485FEC77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1777" r="32073"/>
          <a:stretch>
            <a:fillRect/>
          </a:stretch>
        </p:blipFill>
        <p:spPr>
          <a:xfrm>
            <a:off x="11772170" y="1"/>
            <a:ext cx="419830" cy="43636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9D2D8D-20EF-EF42-5F76-08DD79232F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8115" y="4942645"/>
            <a:ext cx="518183" cy="32571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5FC4D28-61B2-49E8-E77A-552149CB47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8175" y="5547549"/>
            <a:ext cx="438258" cy="2053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 preserve="1">
  <p:cSld name="4_Custom Layout">
    <p:bg>
      <p:bgPr>
        <a:solidFill>
          <a:srgbClr val="CEE4F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>
            <a:spLocks noGrp="1"/>
          </p:cNvSpPr>
          <p:nvPr>
            <p:ph type="title"/>
          </p:nvPr>
        </p:nvSpPr>
        <p:spPr>
          <a:xfrm>
            <a:off x="333845" y="281562"/>
            <a:ext cx="9461431" cy="40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15395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" name="Google Shape;38;p13">
            <a:extLst>
              <a:ext uri="{FF2B5EF4-FFF2-40B4-BE49-F238E27FC236}">
                <a16:creationId xmlns:a16="http://schemas.microsoft.com/office/drawing/2014/main" id="{B78A6E1D-63A0-2994-A2BA-E21B26459B86}"/>
              </a:ext>
            </a:extLst>
          </p:cNvPr>
          <p:cNvSpPr/>
          <p:nvPr userDrawn="1"/>
        </p:nvSpPr>
        <p:spPr>
          <a:xfrm>
            <a:off x="0" y="6363095"/>
            <a:ext cx="12192000" cy="58545"/>
          </a:xfrm>
          <a:prstGeom prst="rect">
            <a:avLst/>
          </a:prstGeom>
          <a:solidFill>
            <a:srgbClr val="5B2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0" y="985449"/>
            <a:ext cx="12192000" cy="54352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body" idx="1"/>
          </p:nvPr>
        </p:nvSpPr>
        <p:spPr>
          <a:xfrm>
            <a:off x="333845" y="1457889"/>
            <a:ext cx="11000906" cy="467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70B5"/>
              </a:buClr>
              <a:buSzPts val="2800"/>
              <a:buFont typeface="Arial" panose="020B0604020202020204" pitchFamily="34" charset="0"/>
              <a:buChar char="•"/>
              <a:defRPr sz="2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98818B-D8F0-2088-66FA-0B7119F99BB0}"/>
              </a:ext>
            </a:extLst>
          </p:cNvPr>
          <p:cNvSpPr/>
          <p:nvPr userDrawn="1"/>
        </p:nvSpPr>
        <p:spPr>
          <a:xfrm>
            <a:off x="8773297" y="3336324"/>
            <a:ext cx="2619633" cy="1964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6331B-F441-B6C2-1CC5-2198547DC6AB}"/>
              </a:ext>
            </a:extLst>
          </p:cNvPr>
          <p:cNvSpPr/>
          <p:nvPr userDrawn="1"/>
        </p:nvSpPr>
        <p:spPr>
          <a:xfrm>
            <a:off x="7982465" y="3608172"/>
            <a:ext cx="2619633" cy="2063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523BE-741F-9814-D591-1BEAF0215C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895" b="31764"/>
          <a:stretch>
            <a:fillRect/>
          </a:stretch>
        </p:blipFill>
        <p:spPr>
          <a:xfrm>
            <a:off x="9795276" y="254506"/>
            <a:ext cx="2148005" cy="4911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3ED35F8-86BF-452A-715F-EC3A61FD73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5276" y="5006923"/>
            <a:ext cx="2396723" cy="185107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A868D84-0BE1-CA5C-809D-EE82564B80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1777" r="32073"/>
          <a:stretch>
            <a:fillRect/>
          </a:stretch>
        </p:blipFill>
        <p:spPr>
          <a:xfrm>
            <a:off x="11772170" y="1"/>
            <a:ext cx="419830" cy="43636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D4CC74D-2BD6-5E3E-CB5F-517C768ED4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8115" y="4942645"/>
            <a:ext cx="518183" cy="32571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F2E616B-73D4-E4A5-3767-CA8D019EB2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8175" y="5547549"/>
            <a:ext cx="438258" cy="20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 preserve="1" userDrawn="1">
  <p:cSld name="4_Custom Layout">
    <p:bg>
      <p:bgPr>
        <a:solidFill>
          <a:srgbClr val="CEE4F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>
            <a:spLocks noGrp="1"/>
          </p:cNvSpPr>
          <p:nvPr>
            <p:ph type="title"/>
          </p:nvPr>
        </p:nvSpPr>
        <p:spPr>
          <a:xfrm>
            <a:off x="333845" y="281562"/>
            <a:ext cx="9461431" cy="40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15395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" name="Google Shape;38;p13">
            <a:extLst>
              <a:ext uri="{FF2B5EF4-FFF2-40B4-BE49-F238E27FC236}">
                <a16:creationId xmlns:a16="http://schemas.microsoft.com/office/drawing/2014/main" id="{B78A6E1D-63A0-2994-A2BA-E21B26459B86}"/>
              </a:ext>
            </a:extLst>
          </p:cNvPr>
          <p:cNvSpPr/>
          <p:nvPr userDrawn="1"/>
        </p:nvSpPr>
        <p:spPr>
          <a:xfrm>
            <a:off x="0" y="6363095"/>
            <a:ext cx="12192000" cy="58545"/>
          </a:xfrm>
          <a:prstGeom prst="rect">
            <a:avLst/>
          </a:prstGeom>
          <a:solidFill>
            <a:srgbClr val="5B2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0" y="985449"/>
            <a:ext cx="12192000" cy="54352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98818B-D8F0-2088-66FA-0B7119F99BB0}"/>
              </a:ext>
            </a:extLst>
          </p:cNvPr>
          <p:cNvSpPr/>
          <p:nvPr userDrawn="1"/>
        </p:nvSpPr>
        <p:spPr>
          <a:xfrm>
            <a:off x="8773297" y="3336324"/>
            <a:ext cx="2619633" cy="1964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6331B-F441-B6C2-1CC5-2198547DC6AB}"/>
              </a:ext>
            </a:extLst>
          </p:cNvPr>
          <p:cNvSpPr/>
          <p:nvPr userDrawn="1"/>
        </p:nvSpPr>
        <p:spPr>
          <a:xfrm>
            <a:off x="7982465" y="3608172"/>
            <a:ext cx="2619633" cy="2063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7" name="Google Shape;22;p10">
            <a:extLst>
              <a:ext uri="{FF2B5EF4-FFF2-40B4-BE49-F238E27FC236}">
                <a16:creationId xmlns:a16="http://schemas.microsoft.com/office/drawing/2014/main" id="{E1CE1357-7E74-8136-6EF6-1F0BCF911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1896" y="1455995"/>
            <a:ext cx="5131903" cy="421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70B5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23;p10">
            <a:extLst>
              <a:ext uri="{FF2B5EF4-FFF2-40B4-BE49-F238E27FC236}">
                <a16:creationId xmlns:a16="http://schemas.microsoft.com/office/drawing/2014/main" id="{F2A9CABA-D27A-30C5-600C-9C540107957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38613" y="1455995"/>
            <a:ext cx="5131903" cy="421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70B5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B54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7383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E21A4-7851-524B-5751-3E63EB3BD6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895" b="31764"/>
          <a:stretch>
            <a:fillRect/>
          </a:stretch>
        </p:blipFill>
        <p:spPr>
          <a:xfrm>
            <a:off x="9795276" y="254506"/>
            <a:ext cx="2148005" cy="4911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E4266D2-1EFA-8CC9-5BE4-46FF7D372A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5276" y="5006923"/>
            <a:ext cx="2396723" cy="185107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BB8AD8-DE50-B6D8-8BD1-8A5325642B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1777" r="32073"/>
          <a:stretch>
            <a:fillRect/>
          </a:stretch>
        </p:blipFill>
        <p:spPr>
          <a:xfrm>
            <a:off x="11772170" y="1"/>
            <a:ext cx="419830" cy="43636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2D5839B-B95E-BE4A-AFEF-FC04932219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8115" y="4942645"/>
            <a:ext cx="518183" cy="32571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5BA1167-FFBD-E712-0FED-3100C4D592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8175" y="5547549"/>
            <a:ext cx="438258" cy="20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4F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4F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FEC688F-74BA-B3CC-70E6-069A4222BC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592" y="-2981"/>
            <a:ext cx="8883407" cy="68609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2AFC7ED-E7E4-9486-C011-392469E725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1777" r="32073"/>
          <a:stretch>
            <a:fillRect/>
          </a:stretch>
        </p:blipFill>
        <p:spPr>
          <a:xfrm>
            <a:off x="10602852" y="1"/>
            <a:ext cx="1589148" cy="165171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B625EFF-D8AF-9A59-4507-62456231CB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0295" y="1590131"/>
            <a:ext cx="1920635" cy="120725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9F05D3B-C4FB-A557-D192-3640A70B20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1782" y="3046937"/>
            <a:ext cx="1624395" cy="761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19D3C3-A0DA-ACBA-DB47-694DD5484F9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t="31895" b="31764"/>
          <a:stretch>
            <a:fillRect/>
          </a:stretch>
        </p:blipFill>
        <p:spPr>
          <a:xfrm>
            <a:off x="352885" y="561632"/>
            <a:ext cx="6671358" cy="152543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github.com/opensearch-project/ml-commons" TargetMode="External"/><Relationship Id="rId7" Type="http://schemas.openxmlformats.org/officeDocument/2006/relationships/hyperlink" Target="https://github.com/instaclustr/lab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clustr.com/instacademy-courses/" TargetMode="External"/><Relationship Id="rId5" Type="http://schemas.openxmlformats.org/officeDocument/2006/relationships/hyperlink" Target="https://github.com/akolarkunnu/experiments/tree/main/talks/agentic_search_under_the_hood" TargetMode="External"/><Relationship Id="rId4" Type="http://schemas.openxmlformats.org/officeDocument/2006/relationships/hyperlink" Target="https://docs.opensearch.org/latest/tutorials/gen-ai/chatbots/build-chatbot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23" y="2186805"/>
            <a:ext cx="9232345" cy="2146853"/>
          </a:xfrm>
        </p:spPr>
        <p:txBody>
          <a:bodyPr/>
          <a:lstStyle/>
          <a:p>
            <a:r>
              <a:rPr sz="3600" b="1" dirty="0">
                <a:solidFill>
                  <a:srgbClr val="15395A"/>
                </a:solidFill>
                <a:latin typeface="Helvetica Neue"/>
              </a:rPr>
              <a:t>Agentic Search: Under the Hood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0" dirty="0">
                <a:solidFill>
                  <a:srgbClr val="616A73"/>
                </a:solidFill>
                <a:latin typeface="Helvetica Neue"/>
              </a:rPr>
              <a:t>Abdul Muneer</a:t>
            </a:r>
            <a:endParaRPr lang="en-US" sz="1800" b="0" dirty="0">
              <a:solidFill>
                <a:srgbClr val="616A73"/>
              </a:solidFill>
              <a:latin typeface="Helvetica Neue"/>
            </a:endParaRPr>
          </a:p>
          <a:p>
            <a:r>
              <a:rPr lang="en-US" sz="1800" dirty="0">
                <a:solidFill>
                  <a:srgbClr val="616A73"/>
                </a:solidFill>
                <a:latin typeface="Helvetica Neue"/>
              </a:rPr>
              <a:t>September 22, 2026</a:t>
            </a:r>
            <a:endParaRPr sz="1800" b="0" dirty="0">
              <a:solidFill>
                <a:srgbClr val="616A73"/>
              </a:solidFill>
              <a:latin typeface="Helvetica Neue"/>
            </a:endParaRPr>
          </a:p>
        </p:txBody>
      </p:sp>
      <p:pic>
        <p:nvPicPr>
          <p:cNvPr id="4" name="Picture 3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Speaker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speaker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24688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11880" y="141732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897B"/>
                </a:solidFill>
                <a:latin typeface="Helvetica Neue"/>
              </a:rPr>
              <a:t>SPEAKER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719072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5395A"/>
                </a:solidFill>
                <a:latin typeface="Helvetica Neue"/>
              </a:rPr>
              <a:t>Abdul Muneer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59152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E353D"/>
                </a:solidFill>
                <a:latin typeface="Helvetica Neue"/>
              </a:rPr>
              <a:t>Open Source Developer  ·  NetApp Instaclustr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2834640"/>
            <a:ext cx="219456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2999232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E353D"/>
                </a:solidFill>
                <a:latin typeface="Helvetica Neue"/>
              </a:rPr>
              <a:t>Maintainer: OpenSearch ml-commons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2E353D"/>
                </a:solidFill>
                <a:latin typeface="Helvetica Neue"/>
              </a:rPr>
              <a:t>Committer: OpenJDK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41605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5EB8"/>
                </a:solidFill>
                <a:latin typeface="Helvetica Neue"/>
              </a:rPr>
              <a:t>linkedin.com/in/muneer-kolarkunnu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05EB8"/>
                </a:solidFill>
                <a:latin typeface="Helvetica Neue"/>
              </a:rPr>
              <a:t>github.com/akolarkunnu</a:t>
            </a:r>
          </a:p>
        </p:txBody>
      </p:sp>
      <p:pic>
        <p:nvPicPr>
          <p:cNvPr id="11" name="Picture 10" descr="netapp_instaclust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Today’s journey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13955" y="2084145"/>
            <a:ext cx="10744200" cy="134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2E353D"/>
                </a:solidFill>
                <a:latin typeface="Helvetica Neue"/>
              </a:rPr>
              <a:t>1  Build the mental model — what an agentic search solution needs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2E353D"/>
                </a:solidFill>
                <a:latin typeface="Helvetica Neue"/>
              </a:rPr>
              <a:t>2  See it working — build and run a chatbot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2E353D"/>
                </a:solidFill>
                <a:latin typeface="Helvetica Neue"/>
              </a:rPr>
              <a:t>3  Go under the hood — execution path and shared design</a:t>
            </a:r>
          </a:p>
        </p:txBody>
      </p:sp>
      <p:pic>
        <p:nvPicPr>
          <p:cNvPr id="5" name="Picture 4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What an agentic search solution needs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BUILDING BLOCKS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3578352" cy="438912"/>
          </a:xfrm>
          <a:prstGeom prst="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10512"/>
            <a:ext cx="3358896" cy="1760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Indices, mappings, and content that tools can inspect and retrieve.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9872" y="1298448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09872" y="1298448"/>
            <a:ext cx="3578352" cy="438912"/>
          </a:xfrm>
          <a:prstGeom prst="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CONNECTOR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1810512"/>
            <a:ext cx="3358896" cy="1760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Endpoint, protocol, and encrypted credentials for remote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2816" y="1298448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52816" y="1298448"/>
            <a:ext cx="3578352" cy="438912"/>
          </a:xfrm>
          <a:prstGeom prst="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2544" y="1810512"/>
            <a:ext cx="3358896" cy="1760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A registered LLM that reasons, selects tools, and writes the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71900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771900"/>
            <a:ext cx="3578352" cy="438912"/>
          </a:xfrm>
          <a:prstGeom prst="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283964"/>
            <a:ext cx="3358896" cy="1760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Orchestration type, model, prompt, tools, memory, and limits.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9872" y="3771900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09872" y="3771900"/>
            <a:ext cx="3578352" cy="438912"/>
          </a:xfrm>
          <a:prstGeom prst="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4283964"/>
            <a:ext cx="3358896" cy="1760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Native OpenSearch tools and optional external MCP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2816" y="3771900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2816" y="3771900"/>
            <a:ext cx="3578352" cy="438912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2544" y="4283964"/>
            <a:ext cx="3358896" cy="1760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Optional conversation state for contextual follow-up questions.</a:t>
            </a:r>
          </a:p>
        </p:txBody>
      </p:sp>
      <p:pic>
        <p:nvPicPr>
          <p:cNvPr id="23" name="Picture 22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Connectors: how OpenSearch reaches models and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BUILDING BLOCKS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3578352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3578352" cy="438912"/>
          </a:xfrm>
          <a:prstGeom prst="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MODEL CONNECTOR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10512"/>
            <a:ext cx="3358896" cy="4233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Invokes a remote model provider such as Amazon Bedrock or OpenAI.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9872" y="1298448"/>
            <a:ext cx="3578352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09872" y="1298448"/>
            <a:ext cx="3578352" cy="438912"/>
          </a:xfrm>
          <a:prstGeom prst="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MCP CONNECTOR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1810512"/>
            <a:ext cx="3358896" cy="4233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Discovers and invokes tools exposed by an external MCP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2816" y="1298448"/>
            <a:ext cx="3578352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52816" y="1298448"/>
            <a:ext cx="3578352" cy="438912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2544" y="1810512"/>
            <a:ext cx="3358896" cy="4233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Credentials are stored in connector documents and encrypted at rest.</a:t>
            </a:r>
          </a:p>
        </p:txBody>
      </p:sp>
      <p:pic>
        <p:nvPicPr>
          <p:cNvPr id="14" name="Picture 13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Models: the reasoning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BUILDING BLOCKS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3578352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3578352" cy="438912"/>
          </a:xfrm>
          <a:prstGeom prst="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10512"/>
            <a:ext cx="3358896" cy="4233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Create a connector that describes the provider endpoint and authentication.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9872" y="1298448"/>
            <a:ext cx="3578352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09872" y="1298448"/>
            <a:ext cx="3578352" cy="438912"/>
          </a:xfrm>
          <a:prstGeom prst="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1810512"/>
            <a:ext cx="3358896" cy="4233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Register a model so the agent can reference a stable model_id.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2816" y="1298448"/>
            <a:ext cx="3578352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52816" y="1298448"/>
            <a:ext cx="3578352" cy="438912"/>
          </a:xfrm>
          <a:prstGeom prst="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INVOKE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2544" y="1810512"/>
            <a:ext cx="3358896" cy="4233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The runner uses MLPredictionTaskAction; provider-specific parsing stays behind an abstraction.</a:t>
            </a:r>
          </a:p>
        </p:txBody>
      </p:sp>
      <p:pic>
        <p:nvPicPr>
          <p:cNvPr id="14" name="Picture 13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Agent types — choose an orchestration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HIGH-LEVEL VIEW · 6 TYPES IN MLAGENTTYPE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3578352" cy="438912"/>
          </a:xfrm>
          <a:prstGeom prst="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CONVERSATIONAL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10512"/>
            <a:ext cx="3358896" cy="1760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Adaptive ReAct loop; model selects tools and uses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9872" y="1298448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09872" y="1298448"/>
            <a:ext cx="3578352" cy="438912"/>
          </a:xfrm>
          <a:prstGeom prst="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1810512"/>
            <a:ext cx="3358896" cy="1760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Deterministic sequence of tools with output chaining.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2816" y="1298448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52816" y="1298448"/>
            <a:ext cx="3578352" cy="438912"/>
          </a:xfrm>
          <a:prstGeom prst="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CONVERSATIONAL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2544" y="1810512"/>
            <a:ext cx="3358896" cy="1760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Flow pipeline enriched with conversation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71900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771900"/>
            <a:ext cx="3578352" cy="438912"/>
          </a:xfrm>
          <a:prstGeom prst="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PLAN–EXECUTE–REFLECT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283964"/>
            <a:ext cx="3358896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300" dirty="0">
                <a:solidFill>
                  <a:srgbClr val="2E353D"/>
                </a:solidFill>
                <a:latin typeface="Helvetica Neue"/>
              </a:rPr>
              <a:t>Dynamically plans, executes, and refines multi-step workflows to solve complex tasks.</a:t>
            </a:r>
            <a:endParaRPr sz="1300" b="0" dirty="0">
              <a:solidFill>
                <a:srgbClr val="2E353D"/>
              </a:solidFill>
              <a:latin typeface="Helvetica Neue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09872" y="3771900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09872" y="3771900"/>
            <a:ext cx="3578352" cy="438912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CONVERSATIONAL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4283964"/>
            <a:ext cx="3358896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300" dirty="0">
                <a:solidFill>
                  <a:srgbClr val="2E353D"/>
                </a:solidFill>
                <a:latin typeface="Helvetica Neue"/>
              </a:rPr>
              <a:t>Enhanced version of the conversational agent with built-in multimodal support.</a:t>
            </a:r>
            <a:endParaRPr sz="1300" b="0" dirty="0">
              <a:solidFill>
                <a:srgbClr val="2E353D"/>
              </a:solidFill>
              <a:latin typeface="Helvetica Neue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52816" y="3771900"/>
            <a:ext cx="3578352" cy="2327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2816" y="3771900"/>
            <a:ext cx="3578352" cy="438912"/>
          </a:xfrm>
          <a:prstGeom prst="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AG-UI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2544" y="4283964"/>
            <a:ext cx="3358896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300" dirty="0">
                <a:solidFill>
                  <a:srgbClr val="2E353D"/>
                </a:solidFill>
                <a:latin typeface="Helvetica Neue"/>
              </a:rPr>
              <a:t>AG-UI protocol for integrating AI agents with frontend applications.</a:t>
            </a:r>
            <a:endParaRPr sz="1300" b="0" dirty="0">
              <a:solidFill>
                <a:srgbClr val="2E353D"/>
              </a:solidFill>
              <a:latin typeface="Helvetica Neue"/>
            </a:endParaRPr>
          </a:p>
        </p:txBody>
      </p:sp>
      <p:pic>
        <p:nvPicPr>
          <p:cNvPr id="23" name="Picture 22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Tools and memory define the agent’s operating boundary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44200" cy="2372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2E353D"/>
                </a:solidFill>
                <a:latin typeface="Helvetica Neue"/>
              </a:rPr>
              <a:t>Native tools understand OpenSearch: list indices, inspect mappings, query, </a:t>
            </a:r>
            <a:r>
              <a:rPr sz="1900" b="1" dirty="0" err="1">
                <a:solidFill>
                  <a:srgbClr val="2E353D"/>
                </a:solidFill>
                <a:latin typeface="Helvetica Neue"/>
              </a:rPr>
              <a:t>rerank</a:t>
            </a:r>
            <a:r>
              <a:rPr sz="1900" b="1" dirty="0">
                <a:solidFill>
                  <a:srgbClr val="2E353D"/>
                </a:solidFill>
                <a:latin typeface="Helvetica Neue"/>
              </a:rPr>
              <a:t>, visualize.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2E353D"/>
                </a:solidFill>
                <a:latin typeface="Helvetica Neue"/>
              </a:rPr>
              <a:t>MCP tools extend the same agent to external systems without a Java plugin.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ts val="1100"/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2E353D"/>
                </a:solidFill>
                <a:latin typeface="Helvetica Neue"/>
              </a:rPr>
              <a:t>Tool descriptions and schemas guide </a:t>
            </a:r>
            <a:r>
              <a:rPr lang="en-US" sz="1900" b="1" dirty="0">
                <a:solidFill>
                  <a:srgbClr val="2E353D"/>
                </a:solidFill>
                <a:latin typeface="Helvetica Neue"/>
              </a:rPr>
              <a:t>influence model behavior</a:t>
            </a:r>
            <a:r>
              <a:rPr sz="1900" b="1" dirty="0">
                <a:solidFill>
                  <a:srgbClr val="2E353D"/>
                </a:solidFill>
                <a:latin typeface="Helvetica Neue"/>
              </a:rPr>
              <a:t>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2E353D"/>
                </a:solidFill>
                <a:latin typeface="Helvetica Neue"/>
              </a:rPr>
              <a:t>Memory preserves conversation context; message limits and hooks control context growth.</a:t>
            </a:r>
          </a:p>
        </p:txBody>
      </p:sp>
      <p:pic>
        <p:nvPicPr>
          <p:cNvPr id="6" name="Picture 5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Native tools the agent can invoke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NATIVE, SKILLS, AND MCP TOOLS THE AGENT CAN BIND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355396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3553968" cy="365760"/>
          </a:xfrm>
          <a:prstGeom prst="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ListIndexTool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755648"/>
            <a:ext cx="3297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Lists cluster indices with health, status, docs, and store size.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064" y="1298448"/>
            <a:ext cx="355396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22064" y="1298448"/>
            <a:ext cx="3553968" cy="365760"/>
          </a:xfrm>
          <a:prstGeom prst="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IndexMappingTool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1755648"/>
            <a:ext cx="3297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Returns field mappings and settings for specified indices.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1298448"/>
            <a:ext cx="355396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77200" y="1298448"/>
            <a:ext cx="3553968" cy="365760"/>
          </a:xfrm>
          <a:prstGeom prst="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SearchIndexTool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5216" y="1755648"/>
            <a:ext cx="3297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Runs Query DSL against an index and returns matching documents.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62656"/>
            <a:ext cx="355396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962656"/>
            <a:ext cx="3553968" cy="365760"/>
          </a:xfrm>
          <a:prstGeom prst="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QueryPlanningTool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419856"/>
            <a:ext cx="3297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Generates OpenSearch Query DSL from a natural-language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2064" y="2962656"/>
            <a:ext cx="355396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22064" y="2962656"/>
            <a:ext cx="3553968" cy="365760"/>
          </a:xfrm>
          <a:prstGeom prst="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VisualizationTool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080" y="3419856"/>
            <a:ext cx="3297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Finds saved visualizations by name and returns titles and IDs.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7200" y="2962656"/>
            <a:ext cx="355396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77200" y="2962656"/>
            <a:ext cx="3553968" cy="365760"/>
          </a:xfrm>
          <a:prstGeom prst="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MLModelTool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5216" y="3419856"/>
            <a:ext cx="3297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Invokes a registered ML model from inside the agent loop.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626864"/>
            <a:ext cx="355396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28" y="4626864"/>
            <a:ext cx="3553968" cy="365760"/>
          </a:xfrm>
          <a:prstGeom prst="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ConnectorTool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5084064"/>
            <a:ext cx="3297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Calls an external service through a connector_id.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2064" y="4626864"/>
            <a:ext cx="355396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22064" y="4626864"/>
            <a:ext cx="3553968" cy="365760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AgentTool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0080" y="5084064"/>
            <a:ext cx="3297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Runs another registered agent as a nested tool.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7200" y="4626864"/>
            <a:ext cx="355396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77200" y="4626864"/>
            <a:ext cx="3553968" cy="365760"/>
          </a:xfrm>
          <a:prstGeom prst="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MCP SSE / HTTP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5216" y="5084064"/>
            <a:ext cx="3297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353D"/>
                </a:solidFill>
                <a:latin typeface="Helvetica Neue"/>
              </a:rPr>
              <a:t>Wraps tools discovered on an MCP server as first-class agent tools.</a:t>
            </a:r>
          </a:p>
        </p:txBody>
      </p:sp>
      <p:pic>
        <p:nvPicPr>
          <p:cNvPr id="41" name="Picture 40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5395A"/>
                </a:solidFill>
                <a:latin typeface="Helvetica Neue"/>
              </a:rPr>
              <a:t>Live chatbot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 b="0" dirty="0">
                <a:solidFill>
                  <a:srgbClr val="00897B"/>
                </a:solidFill>
                <a:latin typeface="Helvetica Neue"/>
              </a:rPr>
              <a:t>Connector → model → conversational agent → _execute</a:t>
            </a:r>
            <a:endParaRPr lang="en-US" sz="2000" b="0" dirty="0">
              <a:solidFill>
                <a:srgbClr val="00897B"/>
              </a:solidFill>
              <a:latin typeface="Helvetica Neue"/>
            </a:endParaRPr>
          </a:p>
          <a:p>
            <a:endParaRPr lang="en-US" sz="2000" dirty="0">
              <a:solidFill>
                <a:srgbClr val="00897B"/>
              </a:solidFill>
              <a:latin typeface="Helvetica Neue"/>
            </a:endParaRPr>
          </a:p>
          <a:p>
            <a:endParaRPr lang="en-US" sz="2000" b="0" dirty="0">
              <a:solidFill>
                <a:srgbClr val="00897B"/>
              </a:solidFill>
              <a:latin typeface="Helvetica Neue"/>
            </a:endParaRPr>
          </a:p>
          <a:p>
            <a:endParaRPr lang="en-US" sz="2000" dirty="0">
              <a:solidFill>
                <a:srgbClr val="00897B"/>
              </a:solidFill>
              <a:latin typeface="Helvetica Neue"/>
            </a:endParaRPr>
          </a:p>
          <a:p>
            <a:endParaRPr lang="en-US" sz="2000" b="0" dirty="0">
              <a:solidFill>
                <a:srgbClr val="00897B"/>
              </a:solidFill>
              <a:latin typeface="Helvetica Neue"/>
            </a:endParaRPr>
          </a:p>
          <a:p>
            <a:r>
              <a:rPr lang="en-US" sz="2000" dirty="0">
                <a:solidFill>
                  <a:srgbClr val="00897B"/>
                </a:solidFill>
                <a:latin typeface="Helvetica Neue"/>
              </a:rPr>
              <a:t>https://</a:t>
            </a:r>
            <a:r>
              <a:rPr lang="en-US" sz="2000" dirty="0" err="1">
                <a:solidFill>
                  <a:srgbClr val="00897B"/>
                </a:solidFill>
                <a:latin typeface="Helvetica Neue"/>
              </a:rPr>
              <a:t>docs.opensearch.org</a:t>
            </a:r>
            <a:r>
              <a:rPr lang="en-US" sz="2000" dirty="0">
                <a:solidFill>
                  <a:srgbClr val="00897B"/>
                </a:solidFill>
                <a:latin typeface="Helvetica Neue"/>
              </a:rPr>
              <a:t>/latest/tutorials/gen-ai/chatbots/build-chatbot/</a:t>
            </a:r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A6700D-99F6-A70A-19DD-273566F98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01" y="1457889"/>
            <a:ext cx="1884997" cy="1837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Demo path: build your own chatbot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8912" y="2057400"/>
            <a:ext cx="2002536" cy="1325880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1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Create connector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78024" y="2606040"/>
            <a:ext cx="246888" cy="228600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61488" y="2057400"/>
            <a:ext cx="2002536" cy="1325880"/>
          </a:xfrm>
          <a:prstGeom prst="round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2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Register 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2606040"/>
            <a:ext cx="246888" cy="228600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84064" y="2057400"/>
            <a:ext cx="2002536" cy="1325880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3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Register agent + tools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23176" y="2606040"/>
            <a:ext cx="246888" cy="228600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06640" y="2057400"/>
            <a:ext cx="2002536" cy="1325880"/>
          </a:xfrm>
          <a:prstGeom prst="round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4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Prepare searchable data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45752" y="2606040"/>
            <a:ext cx="246888" cy="228600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29216" y="2057400"/>
            <a:ext cx="2002536" cy="1325880"/>
          </a:xfrm>
          <a:prstGeom prst="round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5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Execute and inspect trace</a:t>
            </a:r>
          </a:p>
        </p:txBody>
      </p:sp>
      <p:pic>
        <p:nvPicPr>
          <p:cNvPr id="15" name="Picture 14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5395A"/>
                </a:solidFill>
                <a:latin typeface="Helvetica Neue"/>
              </a:rPr>
              <a:t>Now go under the hood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b="0" dirty="0">
              <a:solidFill>
                <a:srgbClr val="00897B"/>
              </a:solidFill>
              <a:latin typeface="Helvetica Neue"/>
            </a:endParaRPr>
          </a:p>
          <a:p>
            <a:endParaRPr lang="en-US" sz="2000" dirty="0">
              <a:solidFill>
                <a:srgbClr val="00897B"/>
              </a:solidFill>
              <a:latin typeface="Helvetica Neue"/>
            </a:endParaRPr>
          </a:p>
          <a:p>
            <a:endParaRPr lang="en-US" sz="2000" b="0" dirty="0">
              <a:solidFill>
                <a:srgbClr val="00897B"/>
              </a:solidFill>
              <a:latin typeface="Helvetica Neue"/>
            </a:endParaRPr>
          </a:p>
          <a:p>
            <a:endParaRPr lang="en-US" sz="2000" dirty="0">
              <a:solidFill>
                <a:srgbClr val="00897B"/>
              </a:solidFill>
              <a:latin typeface="Helvetica Neue"/>
            </a:endParaRPr>
          </a:p>
          <a:p>
            <a:pPr marL="50800" indent="0">
              <a:buNone/>
            </a:pPr>
            <a:r>
              <a:rPr lang="en-US" sz="2000" dirty="0">
                <a:solidFill>
                  <a:srgbClr val="00897B"/>
                </a:solidFill>
                <a:latin typeface="Helvetica Neue"/>
              </a:rPr>
              <a:t>                          </a:t>
            </a:r>
          </a:p>
          <a:p>
            <a:pPr marL="50800" indent="0">
              <a:buNone/>
            </a:pPr>
            <a:r>
              <a:rPr lang="en-US" sz="2000" dirty="0">
                <a:solidFill>
                  <a:srgbClr val="00897B"/>
                </a:solidFill>
                <a:latin typeface="Helvetica Neue"/>
              </a:rPr>
              <a:t>                                https://</a:t>
            </a:r>
            <a:r>
              <a:rPr lang="en-US" sz="2000" dirty="0" err="1">
                <a:solidFill>
                  <a:srgbClr val="00897B"/>
                </a:solidFill>
                <a:latin typeface="Helvetica Neue"/>
              </a:rPr>
              <a:t>github.com</a:t>
            </a:r>
            <a:r>
              <a:rPr lang="en-US" sz="2000" dirty="0">
                <a:solidFill>
                  <a:srgbClr val="00897B"/>
                </a:solidFill>
                <a:latin typeface="Helvetica Neue"/>
              </a:rPr>
              <a:t>/</a:t>
            </a:r>
            <a:r>
              <a:rPr lang="en-US" sz="2000" dirty="0" err="1">
                <a:solidFill>
                  <a:srgbClr val="00897B"/>
                </a:solidFill>
                <a:latin typeface="Helvetica Neue"/>
              </a:rPr>
              <a:t>opensearch</a:t>
            </a:r>
            <a:r>
              <a:rPr lang="en-US" sz="2000" dirty="0">
                <a:solidFill>
                  <a:srgbClr val="00897B"/>
                </a:solidFill>
                <a:latin typeface="Helvetica Neue"/>
              </a:rPr>
              <a:t>-project/ml-commons</a:t>
            </a:r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Connector type hierarchy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PROTOCOL SELECTS THE CONCRETE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261872"/>
            <a:ext cx="3877056" cy="530352"/>
          </a:xfrm>
          <a:prstGeom prst="round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Connector  ·  interface</a:t>
            </a:r>
          </a:p>
        </p:txBody>
      </p:sp>
      <p:sp>
        <p:nvSpPr>
          <p:cNvPr id="6" name="Down Arrow 5"/>
          <p:cNvSpPr/>
          <p:nvPr/>
        </p:nvSpPr>
        <p:spPr>
          <a:xfrm>
            <a:off x="6007608" y="1810512"/>
            <a:ext cx="182880" cy="182880"/>
          </a:xfrm>
          <a:prstGeom prst="down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94760" y="2011680"/>
            <a:ext cx="4608576" cy="640080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AbstractConnector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shared payload, credentials, validation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07608" y="2670048"/>
            <a:ext cx="182880" cy="164592"/>
          </a:xfrm>
          <a:prstGeom prst="down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94760" y="2852928"/>
            <a:ext cx="4617720" cy="27432"/>
          </a:xfrm>
          <a:prstGeom prst="rect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" y="2944368"/>
            <a:ext cx="6784848" cy="233172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944368"/>
            <a:ext cx="6784848" cy="347472"/>
          </a:xfrm>
          <a:prstGeom prst="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HTTP family  ·  model connectors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401568"/>
            <a:ext cx="6419088" cy="621792"/>
          </a:xfrm>
          <a:prstGeom prst="round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HttpConnector  ·  protocol  http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685032" y="4041648"/>
            <a:ext cx="182880" cy="164592"/>
          </a:xfrm>
          <a:prstGeom prst="downArrow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6928" y="4279392"/>
            <a:ext cx="3090672" cy="804672"/>
          </a:xfrm>
          <a:prstGeom prst="round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AwsConnector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aws_sigv4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3904" y="4279392"/>
            <a:ext cx="3182112" cy="804672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GoogleCloudConnector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google_cloud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1775" y="2944368"/>
            <a:ext cx="4443984" cy="233172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1775" y="2944368"/>
            <a:ext cx="4443984" cy="347472"/>
          </a:xfrm>
          <a:prstGeom prst="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MCP family  ·  tool connectors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8" y="3401568"/>
            <a:ext cx="4114800" cy="804672"/>
          </a:xfrm>
          <a:prstGeom prst="round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McpConnector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mcp_sse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16368" y="4315968"/>
            <a:ext cx="4114800" cy="768096"/>
          </a:xfrm>
          <a:prstGeom prst="round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McpStreamableHttpConnector</a:t>
            </a:r>
            <a:br/>
            <a:r>
              <a:rPr sz="1200" b="1">
                <a:solidFill>
                  <a:srgbClr val="FFFFFF"/>
                </a:solidFill>
                <a:latin typeface="Helvetica Neue"/>
              </a:rPr>
              <a:t>mcp_streamable_http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440680"/>
            <a:ext cx="11338560" cy="65836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15395A"/>
                </a:solidFill>
                <a:latin typeface="Helvetica Neue"/>
              </a:rPr>
              <a:t>AwsConnector and GoogleCloudConnector extend HttpConnector.  MCP types extend AbstractConnector.  MLCommonsClassLoader.initConnector(protocol) constructs the annotated class.</a:t>
            </a:r>
          </a:p>
        </p:txBody>
      </p:sp>
      <p:pic>
        <p:nvPicPr>
          <p:cNvPr id="21" name="Picture 20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C89F-C4C5-8125-DBB4-B04E05AAA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B3797-5FE6-55EC-51B6-42F9E01C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5395A"/>
                </a:solidFill>
                <a:latin typeface="Helvetica Neue"/>
              </a:rPr>
              <a:t>Connectors</a:t>
            </a:r>
            <a:endParaRPr sz="3400" b="1" dirty="0">
              <a:solidFill>
                <a:srgbClr val="15395A"/>
              </a:solidFill>
              <a:latin typeface="Helvetica Neu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8F6D8-4301-FCB0-B6DB-38951C7E2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45" y="1546595"/>
            <a:ext cx="3483254" cy="376481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4D665-1E03-1431-869C-ED0E70017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>
            <a:extLst>
              <a:ext uri="{FF2B5EF4-FFF2-40B4-BE49-F238E27FC236}">
                <a16:creationId xmlns:a16="http://schemas.microsoft.com/office/drawing/2014/main" id="{E9782075-663E-D7C7-1B20-0BD6A108E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E3D0DF-3AF7-8629-6AEF-0AFF2A690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6956" y="1546595"/>
            <a:ext cx="2649725" cy="3853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891A6D-3EA5-93FA-FA32-4BF149266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857" y="1600238"/>
            <a:ext cx="3014245" cy="30697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3DD58A-AC05-2995-2062-D22ACC58DC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553" y="1551214"/>
            <a:ext cx="2716304" cy="438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93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F2A75-C00A-4557-4890-FA11052E1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33CF-CD84-7A0B-598C-2C3941F6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5395A"/>
                </a:solidFill>
                <a:latin typeface="Helvetica Neue"/>
              </a:rPr>
              <a:t>Connectors</a:t>
            </a:r>
            <a:endParaRPr sz="3400" b="1" dirty="0">
              <a:solidFill>
                <a:srgbClr val="15395A"/>
              </a:solidFill>
              <a:latin typeface="Helvetica Neue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F23E2-0CEA-C5C6-F081-4CB34C0B7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>
            <a:extLst>
              <a:ext uri="{FF2B5EF4-FFF2-40B4-BE49-F238E27FC236}">
                <a16:creationId xmlns:a16="http://schemas.microsoft.com/office/drawing/2014/main" id="{0AF4E924-2599-D536-1FE1-25AB7905B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84CECE-A4E1-292F-F99C-318DE86F4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98" y="1545277"/>
            <a:ext cx="2887868" cy="3761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4EC374-94D7-3EAE-7C04-A4F86FBD6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466" y="1545277"/>
            <a:ext cx="2427438" cy="44658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6DFF18-6717-9BAE-00EE-4C6437C200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793" y="1423282"/>
            <a:ext cx="2579914" cy="46815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923F9A-2249-2025-2E4C-155AE44A21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592" y="1423282"/>
            <a:ext cx="3014603" cy="363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90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A2B2D-CFA3-3BE4-88CC-5091E8782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0A60-3F06-E5B0-70EC-6EAD7DB1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5395A"/>
                </a:solidFill>
                <a:latin typeface="Helvetica Neue"/>
              </a:rPr>
              <a:t>Connectors</a:t>
            </a:r>
            <a:endParaRPr sz="3400" b="1" dirty="0">
              <a:solidFill>
                <a:srgbClr val="15395A"/>
              </a:solidFill>
              <a:latin typeface="Helvetica Neue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74BD7-4DBB-47D6-4905-8DE22C5A2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>
            <a:extLst>
              <a:ext uri="{FF2B5EF4-FFF2-40B4-BE49-F238E27FC236}">
                <a16:creationId xmlns:a16="http://schemas.microsoft.com/office/drawing/2014/main" id="{5E573369-BC4F-9F87-6DFD-9C0AB1C6A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C4D3FF-95CF-FFE2-A504-770EB49AD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0" y="1457889"/>
            <a:ext cx="7443107" cy="458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27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A42E-49D0-6487-E3B5-52ACA46D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6E43-F9D8-8E89-FEF7-C4CA1493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5395A"/>
                </a:solidFill>
                <a:latin typeface="Helvetica Neue"/>
              </a:rPr>
              <a:t>Tools</a:t>
            </a:r>
            <a:endParaRPr sz="3400" b="1" dirty="0">
              <a:solidFill>
                <a:srgbClr val="15395A"/>
              </a:solidFill>
              <a:latin typeface="Helvetica 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841FFF-B393-FAEC-3BE1-266C7D9BD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760" y="1620157"/>
            <a:ext cx="8936212" cy="344986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4D899-2581-6587-7BF5-095149956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>
            <a:extLst>
              <a:ext uri="{FF2B5EF4-FFF2-40B4-BE49-F238E27FC236}">
                <a16:creationId xmlns:a16="http://schemas.microsoft.com/office/drawing/2014/main" id="{A628197D-417E-0221-516F-D1EAF9A2A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91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Agent runner hierarchy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AGENT TYPE SELECTS THE RUNNER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1261872"/>
            <a:ext cx="4242816" cy="530352"/>
          </a:xfrm>
          <a:prstGeom prst="round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MLAgentRunner  ·  interface</a:t>
            </a:r>
          </a:p>
        </p:txBody>
      </p:sp>
      <p:sp>
        <p:nvSpPr>
          <p:cNvPr id="6" name="Down Arrow 5"/>
          <p:cNvSpPr/>
          <p:nvPr/>
        </p:nvSpPr>
        <p:spPr>
          <a:xfrm>
            <a:off x="6007608" y="1810512"/>
            <a:ext cx="182880" cy="182880"/>
          </a:xfrm>
          <a:prstGeom prst="down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94560" y="2029968"/>
            <a:ext cx="7808975" cy="27432"/>
          </a:xfrm>
          <a:prstGeom prst="rect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2176272"/>
            <a:ext cx="7662672" cy="309067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176272"/>
            <a:ext cx="7662672" cy="347472"/>
          </a:xfrm>
          <a:prstGeom prst="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V1  ·  implements MLAgentRunner directly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633472"/>
            <a:ext cx="2395728" cy="1115568"/>
          </a:xfrm>
          <a:prstGeom prst="round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MLChatAgentRunner</a:t>
            </a:r>
            <a:br/>
            <a:r>
              <a:rPr sz="1200" b="1">
                <a:solidFill>
                  <a:srgbClr val="FFFFFF"/>
                </a:solidFill>
                <a:latin typeface="Helvetica Neue"/>
              </a:rPr>
              <a:t>CONVERSATIONAL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633472"/>
            <a:ext cx="2395728" cy="1115568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MLFlowAgentRunner</a:t>
            </a:r>
            <a:br/>
            <a:r>
              <a:rPr sz="1200" b="1">
                <a:solidFill>
                  <a:srgbClr val="FFFFFF"/>
                </a:solidFill>
                <a:latin typeface="Helvetica Neue"/>
              </a:rPr>
              <a:t>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4688" y="2633472"/>
            <a:ext cx="2395728" cy="1115568"/>
          </a:xfrm>
          <a:prstGeom prst="round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MLConversationalFlow</a:t>
            </a:r>
            <a:br/>
            <a:r>
              <a:rPr sz="1100" b="1">
                <a:solidFill>
                  <a:srgbClr val="FFFFFF"/>
                </a:solidFill>
                <a:latin typeface="Helvetica Neue"/>
              </a:rPr>
              <a:t>AgentRunner</a:t>
            </a:r>
            <a:br/>
            <a:r>
              <a:rPr sz="1100" b="1">
                <a:solidFill>
                  <a:srgbClr val="FFFFFF"/>
                </a:solidFill>
                <a:latin typeface="Helvetica Neue"/>
              </a:rPr>
              <a:t>CONVERSATIONAL_FLOW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877056"/>
            <a:ext cx="3657600" cy="1207008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MLPlanExecuteAndReflect</a:t>
            </a:r>
            <a:br/>
            <a:r>
              <a:rPr sz="1200" b="1">
                <a:solidFill>
                  <a:srgbClr val="FFFFFF"/>
                </a:solidFill>
                <a:latin typeface="Helvetica Neue"/>
              </a:rPr>
              <a:t>AgentRunner</a:t>
            </a:r>
            <a:br/>
            <a:r>
              <a:rPr sz="1200" b="1">
                <a:solidFill>
                  <a:srgbClr val="FFFFFF"/>
                </a:solidFill>
                <a:latin typeface="Helvetica Neue"/>
              </a:rPr>
              <a:t>PLAN_EXECUTE_AND_REFLECT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3877056"/>
            <a:ext cx="3584448" cy="1207008"/>
          </a:xfrm>
          <a:prstGeom prst="round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MLAGUIAgentRunner</a:t>
            </a:r>
            <a:br/>
            <a:r>
              <a:rPr sz="1200" b="1">
                <a:solidFill>
                  <a:srgbClr val="FFFFFF"/>
                </a:solidFill>
                <a:latin typeface="Helvetica Neue"/>
              </a:rPr>
              <a:t>AG_UI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2176272"/>
            <a:ext cx="3584448" cy="309067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2176272"/>
            <a:ext cx="3584448" cy="347472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V2  ·  message-centric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6" y="2633472"/>
            <a:ext cx="3291840" cy="1024128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AbstractV2AgentRunner</a:t>
            </a:r>
            <a:br/>
            <a:r>
              <a:rPr sz="1200" b="1">
                <a:solidFill>
                  <a:srgbClr val="FFFFFF"/>
                </a:solidFill>
                <a:latin typeface="Helvetica Neue"/>
              </a:rPr>
              <a:t>shared V2 setup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912096" y="3694176"/>
            <a:ext cx="182880" cy="164592"/>
          </a:xfrm>
          <a:prstGeom prst="down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57616" y="3913632"/>
            <a:ext cx="3291840" cy="1170432"/>
          </a:xfrm>
          <a:prstGeom prst="round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MLChatAgentRunnerV2</a:t>
            </a:r>
            <a:br/>
            <a:r>
              <a:rPr sz="1200" b="1">
                <a:solidFill>
                  <a:srgbClr val="FFFFFF"/>
                </a:solidFill>
                <a:latin typeface="Helvetica Neue"/>
              </a:rPr>
              <a:t>CONVERSATIONAL_V2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440680"/>
            <a:ext cx="11338560" cy="65836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15395A"/>
                </a:solidFill>
                <a:latin typeface="Helvetica Neue"/>
              </a:rPr>
              <a:t>MLAgentExecutor.getAgentRunner(type) constructs the matching runner.  REST, transport, and MLEngine stay the same.  Only CONVERSATIONAL_V2 extends AbstractV2AgentRunner today.</a:t>
            </a:r>
          </a:p>
        </p:txBody>
      </p:sp>
      <p:pic>
        <p:nvPicPr>
          <p:cNvPr id="21" name="Picture 20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End-to-end execution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965960" cy="749808"/>
          </a:xfrm>
          <a:prstGeom prst="round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REST API</a:t>
            </a:r>
            <a:br/>
            <a:r>
              <a:rPr sz="1100" b="1">
                <a:solidFill>
                  <a:srgbClr val="FFFFFF"/>
                </a:solidFill>
                <a:latin typeface="Helvetica Neue"/>
              </a:rPr>
              <a:t>POST /agents/{id}/_execute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4016" y="1773936"/>
            <a:ext cx="256032" cy="219456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06624" y="1508760"/>
            <a:ext cx="1965960" cy="749808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TransportExecute</a:t>
            </a:r>
            <a:br/>
            <a:r>
              <a:rPr sz="1100" b="1">
                <a:solidFill>
                  <a:srgbClr val="FFFFFF"/>
                </a:solidFill>
                <a:latin typeface="Helvetica Neue"/>
              </a:rPr>
              <a:t>TaskAction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09160" y="1773936"/>
            <a:ext cx="256032" cy="219456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01768" y="1508760"/>
            <a:ext cx="1965960" cy="749808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MLExecuteTask</a:t>
            </a:r>
            <a:br/>
            <a:r>
              <a:rPr sz="1100" b="1">
                <a:solidFill>
                  <a:srgbClr val="FFFFFF"/>
                </a:solidFill>
                <a:latin typeface="Helvetica Neue"/>
              </a:rP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04304" y="1773936"/>
            <a:ext cx="256032" cy="219456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96912" y="1508760"/>
            <a:ext cx="1965960" cy="749808"/>
          </a:xfrm>
          <a:prstGeom prst="round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MLEngine</a:t>
            </a:r>
            <a:br/>
            <a:r>
              <a:rPr sz="1100" b="1">
                <a:solidFill>
                  <a:srgbClr val="FFFFFF"/>
                </a:solidFill>
                <a:latin typeface="Helvetica Neue"/>
              </a:rPr>
              <a:t>FunctionName.AGENT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99448" y="1773936"/>
            <a:ext cx="256032" cy="219456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92056" y="1508760"/>
            <a:ext cx="1965960" cy="749808"/>
          </a:xfrm>
          <a:prstGeom prst="round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MLAgentExecutor</a:t>
            </a:r>
            <a:br/>
            <a:r>
              <a:rPr sz="1100" b="1">
                <a:solidFill>
                  <a:srgbClr val="FFFFFF"/>
                </a:solidFill>
                <a:latin typeface="Helvetica Neue"/>
              </a:rPr>
              <a:t>route by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71800"/>
            <a:ext cx="2606040" cy="749808"/>
          </a:xfrm>
          <a:prstGeom prst="round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Conversational</a:t>
            </a:r>
            <a:br/>
            <a:r>
              <a:rPr sz="1200" b="1">
                <a:solidFill>
                  <a:srgbClr val="FFFFFF"/>
                </a:solidFill>
                <a:latin typeface="Helvetica Neue"/>
              </a:rPr>
              <a:t>ReAct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971800"/>
            <a:ext cx="2606040" cy="749808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Plan–Execute–Reflect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971800"/>
            <a:ext cx="2606040" cy="749808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Flow / Conv.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971800"/>
            <a:ext cx="2606040" cy="749808"/>
          </a:xfrm>
          <a:prstGeom prst="round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Conversational V2 / AG-UI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51960"/>
            <a:ext cx="10972800" cy="96012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600" b="1">
                <a:solidFill>
                  <a:srgbClr val="15395A"/>
                </a:solidFill>
                <a:latin typeface="Helvetica Neue"/>
              </a:rPr>
              <a:t>Shared services: model inference · native/MCP tools · memory · hooks · ActionListener callbacks</a:t>
            </a:r>
          </a:p>
        </p:txBody>
      </p:sp>
      <p:pic>
        <p:nvPicPr>
          <p:cNvPr id="19" name="Picture 18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Agent _execute — call sequence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325880"/>
            <a:ext cx="1773936" cy="512064"/>
          </a:xfrm>
          <a:prstGeom prst="round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REST · Rest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101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13432" y="1325880"/>
            <a:ext cx="1773936" cy="512064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Helvetica Neue"/>
              </a:rPr>
              <a:t>TransportExecuteTaskAction</a:t>
            </a:r>
            <a:r>
              <a:rPr sz="1000" b="1" dirty="0">
                <a:solidFill>
                  <a:srgbClr val="FFFFFF"/>
                </a:solidFill>
                <a:latin typeface="Helvetica Neue"/>
              </a:rPr>
              <a:t> · Transport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125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33672" y="1325880"/>
            <a:ext cx="1773936" cy="512064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Helvetica Neue"/>
              </a:rPr>
              <a:t>MLExecuteTaskRunner</a:t>
            </a:r>
            <a:r>
              <a:rPr sz="1000" b="1" dirty="0">
                <a:solidFill>
                  <a:srgbClr val="FFFFFF"/>
                </a:solidFill>
                <a:latin typeface="Helvetica Neue"/>
              </a:rPr>
              <a:t> · Task runner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149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53912" y="1325880"/>
            <a:ext cx="1773936" cy="512064"/>
          </a:xfrm>
          <a:prstGeom prst="round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Helvetica Neue"/>
              </a:rPr>
              <a:t>MLEngine</a:t>
            </a:r>
            <a:endParaRPr sz="1000" b="1" dirty="0">
              <a:solidFill>
                <a:srgbClr val="FFFFFF"/>
              </a:solidFill>
              <a:latin typeface="Helvetica Neue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3173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74152" y="1325880"/>
            <a:ext cx="1773936" cy="512064"/>
          </a:xfrm>
          <a:prstGeom prst="round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Helvetica Neue"/>
              </a:rPr>
              <a:t>MLAgentExecutor</a:t>
            </a:r>
            <a:r>
              <a:rPr sz="1000" b="1" dirty="0">
                <a:solidFill>
                  <a:srgbClr val="FFFFFF"/>
                </a:solidFill>
                <a:latin typeface="Helvetica Neue"/>
              </a:rPr>
              <a:t> · Agent executor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994392" y="1325880"/>
            <a:ext cx="1773936" cy="512064"/>
          </a:xfrm>
          <a:prstGeom prst="round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RUN · Agent runner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7221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1280160" y="2194560"/>
            <a:ext cx="1920240" cy="219456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1847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5EB8"/>
                </a:solidFill>
                <a:latin typeface="Helvetica Neue"/>
              </a:rPr>
              <a:t>client.execute(MLExecuteTaskAction)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200400" y="2852928"/>
            <a:ext cx="1920240" cy="219456"/>
          </a:xfrm>
          <a:prstGeom prst="right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250545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897B"/>
                </a:solidFill>
                <a:latin typeface="Helvetica Neue"/>
              </a:rPr>
              <a:t>run(AGENT, request)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120640" y="3511296"/>
            <a:ext cx="1920240" cy="219456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3163824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5395A"/>
                </a:solidFill>
                <a:latin typeface="Helvetica Neue"/>
              </a:rPr>
              <a:t>mlEngine.execute(input, listener)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40880" y="4169664"/>
            <a:ext cx="1920240" cy="219456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822192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7722"/>
                </a:solidFill>
                <a:latin typeface="Helvetica Neue"/>
              </a:rPr>
              <a:t>initInstance(AGENT) → execute()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61120" y="4828032"/>
            <a:ext cx="1920240" cy="219456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448056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Helvetica Neue"/>
              </a:rPr>
              <a:t>getAgentRunner(type).run()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742432"/>
            <a:ext cx="11109960" cy="502920"/>
          </a:xfrm>
          <a:prstGeom prst="round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↩ ActionListener carries the response back to REST; no transport thread waits on the LLM</a:t>
            </a:r>
          </a:p>
        </p:txBody>
      </p:sp>
      <p:pic>
        <p:nvPicPr>
          <p:cNvPr id="28" name="Picture 27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Agent type routing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SOURCE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16152"/>
            <a:ext cx="11109960" cy="384048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MLAgentExecutor.java · getAgentRunner()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673352"/>
            <a:ext cx="11109960" cy="4069080"/>
          </a:xfrm>
          <a:prstGeom prst="rect">
            <a:avLst/>
          </a:prstGeom>
          <a:solidFill>
            <a:srgbClr val="16222E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37160" rIns="164592" bIns="9144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79C0FF"/>
                </a:solidFill>
                <a:latin typeface="Menlo"/>
              </a:rPr>
              <a:t>protected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MLAgentRunner</a:t>
            </a:r>
            <a:r>
              <a:rPr sz="1400" b="0">
                <a:solidFill>
                  <a:srgbClr val="E6EDF3"/>
                </a:solidFill>
                <a:latin typeface="Menlo"/>
              </a:rPr>
              <a:t> getAgentRunner(</a:t>
            </a:r>
            <a:r>
              <a:rPr sz="1400" b="0">
                <a:solidFill>
                  <a:srgbClr val="7ED6D0"/>
                </a:solidFill>
                <a:latin typeface="Menlo"/>
              </a:rPr>
              <a:t>MLAgent</a:t>
            </a:r>
            <a:r>
              <a:rPr sz="1400" b="0">
                <a:solidFill>
                  <a:srgbClr val="E6EDF3"/>
                </a:solidFill>
                <a:latin typeface="Menlo"/>
              </a:rPr>
              <a:t> agent, </a:t>
            </a:r>
            <a:r>
              <a:rPr sz="1400" b="0">
                <a:solidFill>
                  <a:srgbClr val="7ED6D0"/>
                </a:solidFill>
                <a:latin typeface="Menlo"/>
              </a:rPr>
              <a:t>HookRegistry</a:t>
            </a:r>
            <a:r>
              <a:rPr sz="1400" b="0">
                <a:solidFill>
                  <a:srgbClr val="E6EDF3"/>
                </a:solidFill>
                <a:latin typeface="Menlo"/>
              </a:rPr>
              <a:t> hooks)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</a:t>
            </a:r>
            <a:r>
              <a:rPr sz="1400" b="0">
                <a:solidFill>
                  <a:srgbClr val="7ED6D0"/>
                </a:solidFill>
                <a:latin typeface="Menlo"/>
              </a:rPr>
              <a:t>MLAgentType</a:t>
            </a:r>
            <a:r>
              <a:rPr sz="1400" b="0">
                <a:solidFill>
                  <a:srgbClr val="E6EDF3"/>
                </a:solidFill>
                <a:latin typeface="Menlo"/>
              </a:rPr>
              <a:t> type = </a:t>
            </a:r>
            <a:r>
              <a:rPr sz="1400" b="0">
                <a:solidFill>
                  <a:srgbClr val="7ED6D0"/>
                </a:solidFill>
                <a:latin typeface="Menlo"/>
              </a:rPr>
              <a:t>MLAgentType</a:t>
            </a:r>
            <a:r>
              <a:rPr sz="1400" b="0">
                <a:solidFill>
                  <a:srgbClr val="E6EDF3"/>
                </a:solidFill>
                <a:latin typeface="Menlo"/>
              </a:rPr>
              <a:t>.from(agent.getType());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</a:t>
            </a:r>
            <a:r>
              <a:rPr sz="1400" b="1">
                <a:solidFill>
                  <a:srgbClr val="79C0FF"/>
                </a:solidFill>
                <a:latin typeface="Menlo"/>
              </a:rPr>
              <a:t>return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1">
                <a:solidFill>
                  <a:srgbClr val="79C0FF"/>
                </a:solidFill>
                <a:latin typeface="Menlo"/>
              </a:rPr>
              <a:t>switch</a:t>
            </a:r>
            <a:r>
              <a:rPr sz="1400" b="0">
                <a:solidFill>
                  <a:srgbClr val="E6EDF3"/>
                </a:solidFill>
                <a:latin typeface="Menlo"/>
              </a:rPr>
              <a:t> (type)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    </a:t>
            </a:r>
            <a:r>
              <a:rPr sz="1400" b="1">
                <a:solidFill>
                  <a:srgbClr val="79C0FF"/>
                </a:solidFill>
                <a:latin typeface="Menlo"/>
              </a:rPr>
              <a:t>case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CONVERSATIONAL</a:t>
            </a:r>
            <a:r>
              <a:rPr sz="1400" b="0">
                <a:solidFill>
                  <a:srgbClr val="E6EDF3"/>
                </a:solidFill>
                <a:latin typeface="Menlo"/>
              </a:rPr>
              <a:t>          -&gt; </a:t>
            </a:r>
            <a:r>
              <a:rPr sz="1400" b="1">
                <a:solidFill>
                  <a:srgbClr val="79C0FF"/>
                </a:solidFill>
                <a:latin typeface="Menlo"/>
              </a:rPr>
              <a:t>new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MLChatAgentRunner</a:t>
            </a:r>
            <a:r>
              <a:rPr sz="1400" b="0">
                <a:solidFill>
                  <a:srgbClr val="E6EDF3"/>
                </a:solidFill>
                <a:latin typeface="Menlo"/>
              </a:rPr>
              <a:t>(...);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    </a:t>
            </a:r>
            <a:r>
              <a:rPr sz="1400" b="1">
                <a:solidFill>
                  <a:srgbClr val="79C0FF"/>
                </a:solidFill>
                <a:latin typeface="Menlo"/>
              </a:rPr>
              <a:t>case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FLOW</a:t>
            </a:r>
            <a:r>
              <a:rPr sz="1400" b="0">
                <a:solidFill>
                  <a:srgbClr val="E6EDF3"/>
                </a:solidFill>
                <a:latin typeface="Menlo"/>
              </a:rPr>
              <a:t>                    -&gt; </a:t>
            </a:r>
            <a:r>
              <a:rPr sz="1400" b="1">
                <a:solidFill>
                  <a:srgbClr val="79C0FF"/>
                </a:solidFill>
                <a:latin typeface="Menlo"/>
              </a:rPr>
              <a:t>new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MLFlowAgentRunner</a:t>
            </a:r>
            <a:r>
              <a:rPr sz="1400" b="0">
                <a:solidFill>
                  <a:srgbClr val="E6EDF3"/>
                </a:solidFill>
                <a:latin typeface="Menlo"/>
              </a:rPr>
              <a:t>(...);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    </a:t>
            </a:r>
            <a:r>
              <a:rPr sz="1400" b="1">
                <a:solidFill>
                  <a:srgbClr val="79C0FF"/>
                </a:solidFill>
                <a:latin typeface="Menlo"/>
              </a:rPr>
              <a:t>case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CONVERSATIONAL_FLOW</a:t>
            </a:r>
            <a:r>
              <a:rPr sz="1400" b="0">
                <a:solidFill>
                  <a:srgbClr val="E6EDF3"/>
                </a:solidFill>
                <a:latin typeface="Menlo"/>
              </a:rPr>
              <a:t>     -&gt; </a:t>
            </a:r>
            <a:r>
              <a:rPr sz="1400" b="1">
                <a:solidFill>
                  <a:srgbClr val="79C0FF"/>
                </a:solidFill>
                <a:latin typeface="Menlo"/>
              </a:rPr>
              <a:t>new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MLConversationalFlowAgentRunner</a:t>
            </a:r>
            <a:r>
              <a:rPr sz="1400" b="0">
                <a:solidFill>
                  <a:srgbClr val="E6EDF3"/>
                </a:solidFill>
                <a:latin typeface="Menlo"/>
              </a:rPr>
              <a:t>(...);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    </a:t>
            </a:r>
            <a:r>
              <a:rPr sz="1400" b="1">
                <a:solidFill>
                  <a:srgbClr val="79C0FF"/>
                </a:solidFill>
                <a:latin typeface="Menlo"/>
              </a:rPr>
              <a:t>case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PLAN_EXECUTE_AND_REFLECT</a:t>
            </a:r>
            <a:r>
              <a:rPr sz="1400" b="0">
                <a:solidFill>
                  <a:srgbClr val="E6EDF3"/>
                </a:solidFill>
                <a:latin typeface="Menlo"/>
              </a:rPr>
              <a:t> -&gt; </a:t>
            </a:r>
            <a:r>
              <a:rPr sz="1400" b="1">
                <a:solidFill>
                  <a:srgbClr val="79C0FF"/>
                </a:solidFill>
                <a:latin typeface="Menlo"/>
              </a:rPr>
              <a:t>new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MLPlanExecuteAndReflectAgentRunner</a:t>
            </a:r>
            <a:r>
              <a:rPr sz="1400" b="0">
                <a:solidFill>
                  <a:srgbClr val="E6EDF3"/>
                </a:solidFill>
                <a:latin typeface="Menlo"/>
              </a:rPr>
              <a:t>(...);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    </a:t>
            </a:r>
            <a:r>
              <a:rPr sz="1400" b="1">
                <a:solidFill>
                  <a:srgbClr val="79C0FF"/>
                </a:solidFill>
                <a:latin typeface="Menlo"/>
              </a:rPr>
              <a:t>case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CONVERSATIONAL_V2</a:t>
            </a:r>
            <a:r>
              <a:rPr sz="1400" b="0">
                <a:solidFill>
                  <a:srgbClr val="E6EDF3"/>
                </a:solidFill>
                <a:latin typeface="Menlo"/>
              </a:rPr>
              <a:t>       -&gt; </a:t>
            </a:r>
            <a:r>
              <a:rPr sz="1400" b="1">
                <a:solidFill>
                  <a:srgbClr val="79C0FF"/>
                </a:solidFill>
                <a:latin typeface="Menlo"/>
              </a:rPr>
              <a:t>new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MLChatAgentRunnerV2</a:t>
            </a:r>
            <a:r>
              <a:rPr sz="1400" b="0">
                <a:solidFill>
                  <a:srgbClr val="E6EDF3"/>
                </a:solidFill>
                <a:latin typeface="Menlo"/>
              </a:rPr>
              <a:t>(...);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    </a:t>
            </a:r>
            <a:r>
              <a:rPr sz="1400" b="1">
                <a:solidFill>
                  <a:srgbClr val="79C0FF"/>
                </a:solidFill>
                <a:latin typeface="Menlo"/>
              </a:rPr>
              <a:t>case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AG_UI</a:t>
            </a:r>
            <a:r>
              <a:rPr sz="1400" b="0">
                <a:solidFill>
                  <a:srgbClr val="E6EDF3"/>
                </a:solidFill>
                <a:latin typeface="Menlo"/>
              </a:rPr>
              <a:t>                   -&gt; </a:t>
            </a:r>
            <a:r>
              <a:rPr sz="1400" b="1">
                <a:solidFill>
                  <a:srgbClr val="79C0FF"/>
                </a:solidFill>
                <a:latin typeface="Menlo"/>
              </a:rPr>
              <a:t>new</a:t>
            </a: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  <a:r>
              <a:rPr sz="1400" b="0">
                <a:solidFill>
                  <a:srgbClr val="7ED6D0"/>
                </a:solidFill>
                <a:latin typeface="Menlo"/>
              </a:rPr>
              <a:t>MLAGUIAgentRunner</a:t>
            </a:r>
            <a:r>
              <a:rPr sz="1400" b="0">
                <a:solidFill>
                  <a:srgbClr val="E6EDF3"/>
                </a:solidFill>
                <a:latin typeface="Menlo"/>
              </a:rPr>
              <a:t>(...);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};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33872"/>
            <a:ext cx="10789920" cy="4572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15395A"/>
                </a:solidFill>
                <a:latin typeface="Helvetica Neue"/>
              </a:rPr>
              <a:t>The transport and engine path is shared; only the runner strategy changes.</a:t>
            </a:r>
          </a:p>
        </p:txBody>
      </p:sp>
      <p:pic>
        <p:nvPicPr>
          <p:cNvPr id="8" name="Picture 7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The common runner contract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SOURCE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16152"/>
            <a:ext cx="11109960" cy="384048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MLAgentRunner.java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2868" y="2162679"/>
            <a:ext cx="9466264" cy="3108713"/>
          </a:xfrm>
          <a:prstGeom prst="rect">
            <a:avLst/>
          </a:prstGeom>
          <a:solidFill>
            <a:srgbClr val="16222E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37160" rIns="164592" bIns="9144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500" b="1" dirty="0">
                <a:solidFill>
                  <a:srgbClr val="79C0FF"/>
                </a:solidFill>
                <a:latin typeface="Menlo"/>
              </a:rPr>
              <a:t>public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 </a:t>
            </a:r>
            <a:r>
              <a:rPr sz="1500" b="1" dirty="0">
                <a:solidFill>
                  <a:srgbClr val="79C0FF"/>
                </a:solidFill>
                <a:latin typeface="Menlo"/>
              </a:rPr>
              <a:t>interface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 </a:t>
            </a:r>
            <a:r>
              <a:rPr sz="1500" b="0" dirty="0" err="1">
                <a:solidFill>
                  <a:srgbClr val="7ED6D0"/>
                </a:solidFill>
                <a:latin typeface="Menlo"/>
              </a:rPr>
              <a:t>MLAgentRunner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500" b="0" dirty="0">
                <a:solidFill>
                  <a:srgbClr val="E6EDF3"/>
                </a:solidFill>
                <a:latin typeface="Menlo"/>
              </a:rPr>
              <a:t>    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500" b="0" dirty="0">
                <a:solidFill>
                  <a:srgbClr val="E6EDF3"/>
                </a:solidFill>
                <a:latin typeface="Menlo"/>
              </a:rPr>
              <a:t>    </a:t>
            </a:r>
            <a:r>
              <a:rPr sz="1500" b="1" dirty="0">
                <a:solidFill>
                  <a:srgbClr val="79C0FF"/>
                </a:solidFill>
                <a:latin typeface="Menlo"/>
              </a:rPr>
              <a:t>void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 run(</a:t>
            </a:r>
            <a:r>
              <a:rPr sz="1500" b="0" dirty="0" err="1">
                <a:solidFill>
                  <a:srgbClr val="7ED6D0"/>
                </a:solidFill>
                <a:latin typeface="Menlo"/>
              </a:rPr>
              <a:t>MLAgent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 agent, </a:t>
            </a:r>
            <a:r>
              <a:rPr sz="1500" b="0" dirty="0">
                <a:solidFill>
                  <a:srgbClr val="7ED6D0"/>
                </a:solidFill>
                <a:latin typeface="Menlo"/>
              </a:rPr>
              <a:t>Map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&lt;</a:t>
            </a:r>
            <a:r>
              <a:rPr sz="1500" b="0" dirty="0">
                <a:solidFill>
                  <a:srgbClr val="7ED6D0"/>
                </a:solidFill>
                <a:latin typeface="Menlo"/>
              </a:rPr>
              <a:t>String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, </a:t>
            </a:r>
            <a:r>
              <a:rPr sz="1500" b="0" dirty="0">
                <a:solidFill>
                  <a:srgbClr val="7ED6D0"/>
                </a:solidFill>
                <a:latin typeface="Menlo"/>
              </a:rPr>
              <a:t>String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&gt; params,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500" b="0" dirty="0">
                <a:solidFill>
                  <a:srgbClr val="E6EDF3"/>
                </a:solidFill>
                <a:latin typeface="Menlo"/>
              </a:rPr>
              <a:t>             </a:t>
            </a:r>
            <a:r>
              <a:rPr sz="1500" b="0" dirty="0">
                <a:solidFill>
                  <a:srgbClr val="7ED6D0"/>
                </a:solidFill>
                <a:latin typeface="Menlo"/>
              </a:rPr>
              <a:t>ActionListener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&lt;</a:t>
            </a:r>
            <a:r>
              <a:rPr sz="1500" b="0" dirty="0">
                <a:solidFill>
                  <a:srgbClr val="7ED6D0"/>
                </a:solidFill>
                <a:latin typeface="Menlo"/>
              </a:rPr>
              <a:t>Object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&gt; listener, </a:t>
            </a:r>
            <a:r>
              <a:rPr sz="1500" b="0" dirty="0" err="1">
                <a:solidFill>
                  <a:srgbClr val="7ED6D0"/>
                </a:solidFill>
                <a:latin typeface="Menlo"/>
              </a:rPr>
              <a:t>TransportChannel</a:t>
            </a:r>
            <a:r>
              <a:rPr sz="1500" b="0" dirty="0">
                <a:solidFill>
                  <a:srgbClr val="E6EDF3"/>
                </a:solidFill>
                <a:latin typeface="Menlo"/>
              </a:rPr>
              <a:t> channel);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500" b="0" dirty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33872"/>
            <a:ext cx="10789920" cy="4572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15395A"/>
                </a:solidFill>
                <a:latin typeface="Helvetica Neue"/>
              </a:rPr>
              <a:t>Flow, conversational, PER, V2, and AG-UI plug into this contract.</a:t>
            </a:r>
          </a:p>
        </p:txBody>
      </p:sp>
      <p:pic>
        <p:nvPicPr>
          <p:cNvPr id="8" name="Picture 7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F0510-A989-CC39-2E81-62ABAAD9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5A4B-3260-213B-3FA7-4B061C61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Helvetica Neue"/>
              </a:rPr>
              <a:t>Conversational agent</a:t>
            </a:r>
            <a:endParaRPr sz="3400" b="1" dirty="0">
              <a:solidFill>
                <a:srgbClr val="15395A"/>
              </a:solidFill>
              <a:latin typeface="Helvetica Neue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25BF5-0211-A196-6E6B-8B530DFD9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>
            <a:extLst>
              <a:ext uri="{FF2B5EF4-FFF2-40B4-BE49-F238E27FC236}">
                <a16:creationId xmlns:a16="http://schemas.microsoft.com/office/drawing/2014/main" id="{FEF0AAE7-FEB0-BEE1-B2F4-DCC406952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7EFFCE-7C36-26BE-65C3-4F394AB8C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" y="2022457"/>
            <a:ext cx="7772400" cy="21762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0B7F4E-A6D2-6BD9-BA82-FA667A661D79}"/>
              </a:ext>
            </a:extLst>
          </p:cNvPr>
          <p:cNvSpPr txBox="1"/>
          <p:nvPr/>
        </p:nvSpPr>
        <p:spPr>
          <a:xfrm>
            <a:off x="502920" y="932688"/>
            <a:ext cx="175400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b="1" dirty="0" err="1">
                <a:solidFill>
                  <a:srgbClr val="00897B"/>
                </a:solidFill>
                <a:latin typeface="Helvetica Neue"/>
              </a:rPr>
              <a:t>MLChatAgentRunner.java</a:t>
            </a:r>
            <a:endParaRPr sz="1000" b="1" dirty="0">
              <a:solidFill>
                <a:srgbClr val="00897B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41953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F0FA6-378F-AC41-D943-FD842322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0ADD4-EEE9-244D-B9EF-5C642380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Helvetica Neue"/>
              </a:rPr>
              <a:t>Flow agent</a:t>
            </a:r>
            <a:endParaRPr sz="3400" b="1" dirty="0">
              <a:solidFill>
                <a:srgbClr val="15395A"/>
              </a:solidFill>
              <a:latin typeface="Helvetica Neue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D7B6C-7FC0-2CDD-ADF6-336A3F326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>
            <a:extLst>
              <a:ext uri="{FF2B5EF4-FFF2-40B4-BE49-F238E27FC236}">
                <a16:creationId xmlns:a16="http://schemas.microsoft.com/office/drawing/2014/main" id="{FE5A7273-867D-E2CB-F5A8-3C4B37D7B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2DD112-B2B9-5055-546A-19B6D3083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49" y="2570036"/>
            <a:ext cx="10358307" cy="12100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2758C6-E585-7F87-24E2-597346829C30}"/>
              </a:ext>
            </a:extLst>
          </p:cNvPr>
          <p:cNvSpPr txBox="1"/>
          <p:nvPr/>
        </p:nvSpPr>
        <p:spPr>
          <a:xfrm>
            <a:off x="502920" y="932688"/>
            <a:ext cx="17572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b="1" dirty="0" err="1">
                <a:solidFill>
                  <a:srgbClr val="00897B"/>
                </a:solidFill>
                <a:latin typeface="Helvetica Neue"/>
              </a:rPr>
              <a:t>MLFlowAgentRunner.java</a:t>
            </a:r>
            <a:endParaRPr sz="1000" b="1" dirty="0">
              <a:solidFill>
                <a:srgbClr val="00897B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42642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FA3F-45B1-A3BD-53E8-7BC75F99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E636-9924-2B89-A5F5-81C4B662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Helvetica Neue"/>
              </a:rPr>
              <a:t>Conversational Flow agent</a:t>
            </a:r>
            <a:endParaRPr sz="3400" b="1" dirty="0">
              <a:solidFill>
                <a:srgbClr val="15395A"/>
              </a:solidFill>
              <a:latin typeface="Helvetica Neue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EE5CC-5C1C-1A41-73E0-D0DED1705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>
            <a:extLst>
              <a:ext uri="{FF2B5EF4-FFF2-40B4-BE49-F238E27FC236}">
                <a16:creationId xmlns:a16="http://schemas.microsoft.com/office/drawing/2014/main" id="{39102C61-E635-040E-7AE9-294227B30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21C437-DC9E-83B9-6351-A8A368C5231B}"/>
              </a:ext>
            </a:extLst>
          </p:cNvPr>
          <p:cNvSpPr txBox="1"/>
          <p:nvPr/>
        </p:nvSpPr>
        <p:spPr>
          <a:xfrm>
            <a:off x="502920" y="932688"/>
            <a:ext cx="26789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b="1" dirty="0" err="1">
                <a:solidFill>
                  <a:srgbClr val="00897B"/>
                </a:solidFill>
                <a:latin typeface="Helvetica Neue"/>
              </a:rPr>
              <a:t>MLConversationalFlowAgentRunner.java</a:t>
            </a:r>
            <a:endParaRPr sz="1000" b="1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E5EB8-7528-CA4C-65FA-D2BB19B92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07" y="2648189"/>
            <a:ext cx="10208083" cy="146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169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External MCP tools — same Tool.run() contract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MCP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2057400"/>
            <a:ext cx="2002536" cy="1325880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1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Agent lists mcp_connectors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78024" y="2606040"/>
            <a:ext cx="246888" cy="228600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61488" y="2057400"/>
            <a:ext cx="2002536" cy="1325880"/>
          </a:xfrm>
          <a:prstGeom prst="round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2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Executor calls listTools()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2606040"/>
            <a:ext cx="246888" cy="228600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84064" y="2057400"/>
            <a:ext cx="2002536" cy="1325880"/>
          </a:xfrm>
          <a:prstGeom prst="round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3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Wrap as MLToolSpec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23176" y="2606040"/>
            <a:ext cx="246888" cy="228600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06640" y="2057400"/>
            <a:ext cx="2002536" cy="1325880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4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Merge with native tools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45752" y="2606040"/>
            <a:ext cx="246888" cy="228600"/>
          </a:xfrm>
          <a:prstGeom prst="rightArrow">
            <a:avLst/>
          </a:prstGeom>
          <a:solidFill>
            <a:srgbClr val="15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29216" y="2057400"/>
            <a:ext cx="2002536" cy="1325880"/>
          </a:xfrm>
          <a:prstGeom prst="round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5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ReAct selects; callTool()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60520"/>
            <a:ext cx="10972800" cy="9144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00" b="0">
                <a:solidFill>
                  <a:srgbClr val="2E353D"/>
                </a:solidFill>
                <a:latin typeface="Helvetica Neue"/>
              </a:rPr>
              <a:t>No separate agent loop. Discovery is MCP-specific; selection and observation are shared.</a:t>
            </a:r>
          </a:p>
        </p:txBody>
      </p:sp>
      <p:pic>
        <p:nvPicPr>
          <p:cNvPr id="15" name="Picture 14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DDAD-A481-D555-EDA4-C97DD3F05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F6F1-0A3E-0AD8-8751-5A21436E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5395A"/>
                </a:solidFill>
                <a:latin typeface="Helvetica Neue"/>
              </a:rPr>
              <a:t>Agents with MCP Tools</a:t>
            </a:r>
            <a:endParaRPr sz="3400" b="1" dirty="0">
              <a:solidFill>
                <a:srgbClr val="15395A"/>
              </a:solidFill>
              <a:latin typeface="Helvetica 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6BE1C-1BF9-4F9B-6FCC-6978F6FDE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138" y="1080570"/>
            <a:ext cx="4972613" cy="505391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F1DE9-F658-C9F5-0739-19540B01E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b="0" dirty="0">
              <a:solidFill>
                <a:srgbClr val="00897B"/>
              </a:solidFill>
              <a:latin typeface="Helvetica Neue"/>
            </a:endParaRPr>
          </a:p>
        </p:txBody>
      </p:sp>
      <p:pic>
        <p:nvPicPr>
          <p:cNvPr id="4" name="Picture 3" descr="netapp_instaclustr_logo.png">
            <a:extLst>
              <a:ext uri="{FF2B5EF4-FFF2-40B4-BE49-F238E27FC236}">
                <a16:creationId xmlns:a16="http://schemas.microsoft.com/office/drawing/2014/main" id="{61A40EF2-5AE8-7DEA-2DDC-BCCAA82A9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AC4F36-BD35-A56B-2A67-5E2F2A307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9" y="1198606"/>
            <a:ext cx="4571010" cy="505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46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Chat MCP listing — call sequence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MCP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325880"/>
            <a:ext cx="1773936" cy="512064"/>
          </a:xfrm>
          <a:prstGeom prst="roundRect">
            <a:avLst/>
          </a:prstGeom>
          <a:solidFill>
            <a:srgbClr val="E87722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MLChatAgentRunner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101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13432" y="1325880"/>
            <a:ext cx="1773936" cy="512064"/>
          </a:xfrm>
          <a:prstGeom prst="roundRect">
            <a:avLst/>
          </a:prstGeom>
          <a:solidFill>
            <a:srgbClr val="00897B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AgentUtils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125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33672" y="1325880"/>
            <a:ext cx="1773936" cy="512064"/>
          </a:xfrm>
          <a:prstGeom prst="roundRect">
            <a:avLst/>
          </a:prstGeom>
          <a:solidFill>
            <a:srgbClr val="005EB8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AgentUtils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149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53912" y="1325880"/>
            <a:ext cx="1773936" cy="512064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Connector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173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74152" y="1325880"/>
            <a:ext cx="1773936" cy="512064"/>
          </a:xfrm>
          <a:prstGeom prst="round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McpConnectorExecutor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994392" y="1325880"/>
            <a:ext cx="1773936" cy="512064"/>
          </a:xfrm>
          <a:prstGeom prst="round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McpSyncClient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72216" y="1874519"/>
            <a:ext cx="18288" cy="3931920"/>
          </a:xfrm>
          <a:prstGeom prst="rect">
            <a:avLst/>
          </a:prstGeom>
          <a:solidFill>
            <a:srgbClr val="B8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1280160" y="2194560"/>
            <a:ext cx="1920240" cy="219456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1847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7722"/>
                </a:solidFill>
                <a:latin typeface="Helvetica Neue"/>
              </a:rPr>
              <a:t>processUnifiedTools → getMcpToolSpecs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200400" y="2852928"/>
            <a:ext cx="1920240" cy="219456"/>
          </a:xfrm>
          <a:prstGeom prst="right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250545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897B"/>
                </a:solidFill>
                <a:latin typeface="Helvetica Neue"/>
              </a:rPr>
              <a:t>getMCPToolSpecsFromConnector(id)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120640" y="3511296"/>
            <a:ext cx="1920240" cy="219456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3163824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5EB8"/>
                </a:solidFill>
                <a:latin typeface="Helvetica Neue"/>
              </a:rPr>
              <a:t>getConnector(connector_id)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40880" y="4169664"/>
            <a:ext cx="1920240" cy="219456"/>
          </a:xfrm>
          <a:prstGeom prst="rightArrow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822192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6A1B9A"/>
                </a:solidFill>
                <a:latin typeface="Helvetica Neue"/>
              </a:rPr>
              <a:t>decrypt · initInstance(protocol)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61120" y="4828032"/>
            <a:ext cx="1920240" cy="219456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448056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Helvetica Neue"/>
              </a:rPr>
              <a:t>listTools() → wrap MLToolSpec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742432"/>
            <a:ext cx="11109960" cy="56692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15395A"/>
                </a:solidFill>
                <a:latin typeface="Helvetica Neue"/>
              </a:rPr>
              <a:t>↩ completeIfLast merges specs back to MLChatAgentRunner. Async ActionListener; a failed connector is skipped.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MCP invoke: merge then callTool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SOURCE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16152"/>
            <a:ext cx="11109960" cy="384048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l"/>
            <a:r>
              <a:rPr sz="1000" b="0" dirty="0" err="1">
                <a:solidFill>
                  <a:srgbClr val="FFFFFF"/>
                </a:solidFill>
                <a:latin typeface="Helvetica Neue"/>
              </a:rPr>
              <a:t>MLChatAgentRunner.java</a:t>
            </a:r>
            <a:endParaRPr sz="1000" b="0" dirty="0">
              <a:solidFill>
                <a:srgbClr val="FFFFFF"/>
              </a:solidFill>
              <a:latin typeface="Helvetica Neue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5833872"/>
            <a:ext cx="10789920" cy="4572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200" b="1">
                <a:solidFill>
                  <a:srgbClr val="15395A"/>
                </a:solidFill>
                <a:latin typeface="Helvetica Neue"/>
              </a:rPr>
              <a:t>If MCP listing fails, the conversational runner continues with native tools only.</a:t>
            </a:r>
          </a:p>
        </p:txBody>
      </p:sp>
      <p:pic>
        <p:nvPicPr>
          <p:cNvPr id="8" name="Picture 7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23A957-2FB3-E560-CFB2-2913DBFDE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9928"/>
            <a:ext cx="10607013" cy="23117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50B5-0C06-AE87-B996-2117E5BB4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ED9D-F541-123A-018D-B637585A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lang="en-US" sz="2800" b="1" dirty="0" err="1">
                <a:solidFill>
                  <a:srgbClr val="15395A"/>
                </a:solidFill>
                <a:latin typeface="Helvetica Neue"/>
              </a:rPr>
              <a:t>AgentUtils</a:t>
            </a:r>
            <a:endParaRPr sz="2800" b="1" dirty="0">
              <a:solidFill>
                <a:srgbClr val="15395A"/>
              </a:solidFill>
              <a:latin typeface="Helvetica Neue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5343C-F1CB-3CE3-E4EE-CE2DDB740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489F1-59BE-E630-7AE7-53BF9552DAD3}"/>
              </a:ext>
            </a:extLst>
          </p:cNvPr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SOURCE WALKTHROUGH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058394-5BC4-E1AC-180D-220879FA8FA8}"/>
              </a:ext>
            </a:extLst>
          </p:cNvPr>
          <p:cNvSpPr/>
          <p:nvPr/>
        </p:nvSpPr>
        <p:spPr>
          <a:xfrm>
            <a:off x="530352" y="1216152"/>
            <a:ext cx="11109960" cy="384048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l"/>
            <a:r>
              <a:rPr lang="en-US" sz="1000" b="0" dirty="0" err="1">
                <a:solidFill>
                  <a:srgbClr val="FFFFFF"/>
                </a:solidFill>
                <a:latin typeface="Helvetica Neue"/>
              </a:rPr>
              <a:t>AgentUtils</a:t>
            </a:r>
            <a:r>
              <a:rPr sz="1000" b="0" dirty="0" err="1">
                <a:solidFill>
                  <a:srgbClr val="FFFFFF"/>
                </a:solidFill>
                <a:latin typeface="Helvetica Neue"/>
              </a:rPr>
              <a:t>.java</a:t>
            </a:r>
            <a:endParaRPr sz="1000" b="0" dirty="0">
              <a:solidFill>
                <a:srgbClr val="FFFFFF"/>
              </a:solidFill>
              <a:latin typeface="Helvetica Neue"/>
            </a:endParaRPr>
          </a:p>
        </p:txBody>
      </p:sp>
      <p:pic>
        <p:nvPicPr>
          <p:cNvPr id="8" name="Picture 7" descr="netapp_instaclustr_logo.png">
            <a:extLst>
              <a:ext uri="{FF2B5EF4-FFF2-40B4-BE49-F238E27FC236}">
                <a16:creationId xmlns:a16="http://schemas.microsoft.com/office/drawing/2014/main" id="{BA483725-CB05-E52F-F6AC-12A7BC911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3FA067-7BCE-678F-ACDA-2DEFD9A97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1600200"/>
            <a:ext cx="75946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55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MCP discovery: listTools becomes MLToolSpec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SOURCE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16152"/>
            <a:ext cx="11109960" cy="384048"/>
          </a:xfrm>
          <a:prstGeom prst="rect">
            <a:avLst/>
          </a:prstGeom>
          <a:solidFill>
            <a:srgbClr val="15395A"/>
          </a:solidFill>
          <a:ln w="15240">
            <a:solidFill>
              <a:srgbClr val="15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McpConnectorExecutor.java · getMcpToolSpecs()</a:t>
            </a:r>
          </a:p>
        </p:txBody>
      </p:sp>
      <p:pic>
        <p:nvPicPr>
          <p:cNvPr id="8" name="Picture 7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2BAC34-FC76-5E71-A996-8BDCB891A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2" y="1672589"/>
            <a:ext cx="6244591" cy="443236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Extend and debug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897B"/>
                </a:solidFill>
                <a:latin typeface="Helvetica Neue"/>
              </a:rPr>
              <a:t>PRACTICAL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44200" cy="169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1" dirty="0">
                <a:solidFill>
                  <a:srgbClr val="2E353D"/>
                </a:solidFill>
                <a:latin typeface="Helvetica Neue"/>
              </a:rPr>
              <a:t>Start with the agent document: </a:t>
            </a:r>
            <a:r>
              <a:rPr sz="1800" b="1" dirty="0" err="1">
                <a:solidFill>
                  <a:srgbClr val="2E353D"/>
                </a:solidFill>
                <a:latin typeface="Helvetica Neue"/>
              </a:rPr>
              <a:t>model_id</a:t>
            </a:r>
            <a:r>
              <a:rPr sz="1800" b="1" dirty="0">
                <a:solidFill>
                  <a:srgbClr val="2E353D"/>
                </a:solidFill>
                <a:latin typeface="Helvetica Neue"/>
              </a:rPr>
              <a:t>, tools, </a:t>
            </a:r>
            <a:r>
              <a:rPr sz="1800" b="1" dirty="0" err="1">
                <a:solidFill>
                  <a:srgbClr val="2E353D"/>
                </a:solidFill>
                <a:latin typeface="Helvetica Neue"/>
              </a:rPr>
              <a:t>mcp_connectors</a:t>
            </a:r>
            <a:r>
              <a:rPr sz="1800" b="1" dirty="0">
                <a:solidFill>
                  <a:srgbClr val="2E353D"/>
                </a:solidFill>
                <a:latin typeface="Helvetica Neue"/>
              </a:rPr>
              <a:t>, prompt, and limits.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1" dirty="0">
                <a:solidFill>
                  <a:srgbClr val="2E353D"/>
                </a:solidFill>
                <a:latin typeface="Helvetica Neue"/>
              </a:rPr>
              <a:t>Use the List Tools API to validate MCP connectivity and schemas independently.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1" dirty="0">
                <a:solidFill>
                  <a:srgbClr val="2E353D"/>
                </a:solidFill>
                <a:latin typeface="Helvetica Neue"/>
              </a:rPr>
              <a:t>For a new orchestration pattern: implement </a:t>
            </a:r>
            <a:r>
              <a:rPr sz="1800" b="1" dirty="0" err="1">
                <a:solidFill>
                  <a:srgbClr val="2E353D"/>
                </a:solidFill>
                <a:latin typeface="Helvetica Neue"/>
              </a:rPr>
              <a:t>MLAgentRunner</a:t>
            </a:r>
            <a:r>
              <a:rPr sz="1800" b="1" dirty="0">
                <a:solidFill>
                  <a:srgbClr val="2E353D"/>
                </a:solidFill>
                <a:latin typeface="Helvetica Neue"/>
              </a:rPr>
              <a:t> and add one routing case.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1" dirty="0">
                <a:solidFill>
                  <a:srgbClr val="2E353D"/>
                </a:solidFill>
                <a:latin typeface="Helvetica Neue"/>
              </a:rPr>
              <a:t>For a new capability: implement Tool and register its factory.</a:t>
            </a:r>
          </a:p>
        </p:txBody>
      </p:sp>
      <p:pic>
        <p:nvPicPr>
          <p:cNvPr id="6" name="Picture 5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sz="2800" b="1">
                <a:solidFill>
                  <a:srgbClr val="15395A"/>
                </a:solidFill>
                <a:latin typeface="Helvetica Neue"/>
              </a:rPr>
              <a:t>Key 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298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2E353D"/>
                </a:solidFill>
                <a:latin typeface="Helvetica Neue"/>
              </a:rPr>
              <a:t>An agentic search solution is a composition: data + connector + model + agent + tools + memory.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2E353D"/>
                </a:solidFill>
                <a:latin typeface="Helvetica Neue"/>
              </a:rPr>
              <a:t>Every agent type shares one path: REST → transport → </a:t>
            </a:r>
            <a:r>
              <a:rPr sz="1900" b="1" dirty="0" err="1">
                <a:solidFill>
                  <a:srgbClr val="2E353D"/>
                </a:solidFill>
                <a:latin typeface="Helvetica Neue"/>
              </a:rPr>
              <a:t>MLEngine</a:t>
            </a:r>
            <a:r>
              <a:rPr sz="1900" b="1" dirty="0">
                <a:solidFill>
                  <a:srgbClr val="2E353D"/>
                </a:solidFill>
                <a:latin typeface="Helvetica Neue"/>
              </a:rPr>
              <a:t> → </a:t>
            </a:r>
            <a:r>
              <a:rPr sz="1900" b="1" dirty="0" err="1">
                <a:solidFill>
                  <a:srgbClr val="2E353D"/>
                </a:solidFill>
                <a:latin typeface="Helvetica Neue"/>
              </a:rPr>
              <a:t>MLAgentExecutor</a:t>
            </a:r>
            <a:r>
              <a:rPr sz="1900" b="1" dirty="0">
                <a:solidFill>
                  <a:srgbClr val="2E353D"/>
                </a:solidFill>
                <a:latin typeface="Helvetica Neue"/>
              </a:rPr>
              <a:t> → </a:t>
            </a:r>
            <a:r>
              <a:rPr sz="1900" b="1" dirty="0" err="1">
                <a:solidFill>
                  <a:srgbClr val="2E353D"/>
                </a:solidFill>
                <a:latin typeface="Helvetica Neue"/>
              </a:rPr>
              <a:t>MLAgentRunner</a:t>
            </a:r>
            <a:r>
              <a:rPr sz="1900" b="1" dirty="0">
                <a:solidFill>
                  <a:srgbClr val="2E353D"/>
                </a:solidFill>
                <a:latin typeface="Helvetica Neue"/>
              </a:rPr>
              <a:t>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2E353D"/>
                </a:solidFill>
                <a:latin typeface="Helvetica Neue"/>
              </a:rPr>
              <a:t>The runner strategy is the only thing that changes: </a:t>
            </a:r>
            <a:r>
              <a:rPr sz="1900" b="1" dirty="0" err="1">
                <a:solidFill>
                  <a:srgbClr val="2E353D"/>
                </a:solidFill>
                <a:latin typeface="Helvetica Neue"/>
              </a:rPr>
              <a:t>ReAct</a:t>
            </a:r>
            <a:r>
              <a:rPr sz="1900" b="1" dirty="0">
                <a:solidFill>
                  <a:srgbClr val="2E353D"/>
                </a:solidFill>
                <a:latin typeface="Helvetica Neue"/>
              </a:rPr>
              <a:t>, Flow, Conversational Flow, or Plan–Execute–Reflect.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900" b="1" dirty="0" err="1">
                <a:solidFill>
                  <a:srgbClr val="2E353D"/>
                </a:solidFill>
                <a:latin typeface="Helvetica Neue"/>
              </a:rPr>
              <a:t>Tool.run</a:t>
            </a:r>
            <a:r>
              <a:rPr sz="1900" b="1" dirty="0">
                <a:solidFill>
                  <a:srgbClr val="2E353D"/>
                </a:solidFill>
                <a:latin typeface="Helvetica Neue"/>
              </a:rPr>
              <a:t>() is the single contract — MCP tools differ only in discovery, not in how the agent calls them.</a:t>
            </a:r>
          </a:p>
        </p:txBody>
      </p:sp>
      <p:pic>
        <p:nvPicPr>
          <p:cNvPr id="5" name="Picture 4" descr="netapp_instaclust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" cy="91440"/>
          </a:xfrm>
        </p:spPr>
        <p:txBody>
          <a:bodyPr/>
          <a:lstStyle/>
          <a:p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" cy="91440"/>
          </a:xfrm>
        </p:spPr>
        <p:txBody>
          <a:bodyPr/>
          <a:lstStyle/>
          <a:p>
            <a:endParaRPr dirty="0"/>
          </a:p>
        </p:txBody>
      </p:sp>
      <p:pic>
        <p:nvPicPr>
          <p:cNvPr id="5" name="Picture 4" descr="qr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868680"/>
            <a:ext cx="1965960" cy="1965960"/>
          </a:xfrm>
          <a:prstGeom prst="rect">
            <a:avLst/>
          </a:prstGeom>
        </p:spPr>
      </p:pic>
      <p:pic>
        <p:nvPicPr>
          <p:cNvPr id="6" name="Picture 5" descr="qr_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2" y="868680"/>
            <a:ext cx="196596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2889504"/>
            <a:ext cx="1965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616A73"/>
                </a:solidFill>
                <a:latin typeface="Helvetica Neue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4352" y="2889504"/>
            <a:ext cx="1965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616A73"/>
                </a:solidFill>
                <a:latin typeface="Helvetica Neue"/>
              </a:rP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494" y="-109728"/>
            <a:ext cx="78638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 dirty="0">
                <a:solidFill>
                  <a:srgbClr val="15395A"/>
                </a:solidFill>
                <a:latin typeface="Helvetica Neue"/>
              </a:rPr>
              <a:t>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503816"/>
            <a:ext cx="925766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16A73"/>
                </a:solidFill>
                <a:latin typeface="Helvetica Neue"/>
              </a:rPr>
              <a:t>Launching </a:t>
            </a:r>
            <a:r>
              <a:rPr lang="en-US" sz="2000" dirty="0" err="1">
                <a:solidFill>
                  <a:srgbClr val="616A73"/>
                </a:solidFill>
                <a:latin typeface="Helvetica Neue"/>
              </a:rPr>
              <a:t>InstaAcademy</a:t>
            </a:r>
            <a:r>
              <a:rPr lang="en-US" sz="2000" dirty="0">
                <a:solidFill>
                  <a:srgbClr val="616A73"/>
                </a:solidFill>
                <a:latin typeface="Helvetica Neue"/>
              </a:rPr>
              <a:t> - https://</a:t>
            </a:r>
            <a:r>
              <a:rPr lang="en-US" sz="2000" dirty="0" err="1">
                <a:solidFill>
                  <a:srgbClr val="616A73"/>
                </a:solidFill>
                <a:latin typeface="Helvetica Neue"/>
              </a:rPr>
              <a:t>www.instaclustr.com</a:t>
            </a:r>
            <a:r>
              <a:rPr lang="en-US" sz="2000" dirty="0">
                <a:solidFill>
                  <a:srgbClr val="616A73"/>
                </a:solidFill>
                <a:latin typeface="Helvetica Neue"/>
              </a:rPr>
              <a:t>/</a:t>
            </a:r>
            <a:r>
              <a:rPr lang="en-US" sz="2000" dirty="0" err="1">
                <a:solidFill>
                  <a:srgbClr val="616A73"/>
                </a:solidFill>
                <a:latin typeface="Helvetica Neue"/>
              </a:rPr>
              <a:t>instacademy</a:t>
            </a:r>
            <a:r>
              <a:rPr lang="en-US" sz="2000" dirty="0">
                <a:solidFill>
                  <a:srgbClr val="616A73"/>
                </a:solidFill>
                <a:latin typeface="Helvetica Neue"/>
              </a:rPr>
              <a:t>-courses/ </a:t>
            </a:r>
            <a:endParaRPr sz="2000" b="0" dirty="0">
              <a:solidFill>
                <a:srgbClr val="616A73"/>
              </a:solidFill>
              <a:latin typeface="Helvetica Neue"/>
            </a:endParaRPr>
          </a:p>
        </p:txBody>
      </p:sp>
      <p:pic>
        <p:nvPicPr>
          <p:cNvPr id="12" name="Picture 11" descr="netapp_instaclustr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3209E2-FDB5-6169-898E-C3A26226B472}"/>
              </a:ext>
            </a:extLst>
          </p:cNvPr>
          <p:cNvSpPr txBox="1"/>
          <p:nvPr/>
        </p:nvSpPr>
        <p:spPr>
          <a:xfrm>
            <a:off x="571500" y="3860432"/>
            <a:ext cx="74526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16A73"/>
                </a:solidFill>
                <a:latin typeface="Helvetica Neue"/>
              </a:rPr>
              <a:t>Launching </a:t>
            </a:r>
            <a:r>
              <a:rPr lang="en-US" sz="2000" dirty="0" err="1">
                <a:solidFill>
                  <a:srgbClr val="616A73"/>
                </a:solidFill>
                <a:latin typeface="Helvetica Neue"/>
              </a:rPr>
              <a:t>Instaclustr</a:t>
            </a:r>
            <a:r>
              <a:rPr lang="en-US" sz="2000" dirty="0">
                <a:solidFill>
                  <a:srgbClr val="616A73"/>
                </a:solidFill>
                <a:latin typeface="Helvetica Neue"/>
              </a:rPr>
              <a:t> Labs - https://</a:t>
            </a:r>
            <a:r>
              <a:rPr lang="en-US" sz="2000" dirty="0" err="1">
                <a:solidFill>
                  <a:srgbClr val="616A73"/>
                </a:solidFill>
                <a:latin typeface="Helvetica Neue"/>
              </a:rPr>
              <a:t>github.com</a:t>
            </a:r>
            <a:r>
              <a:rPr lang="en-US" sz="2000" dirty="0">
                <a:solidFill>
                  <a:srgbClr val="616A73"/>
                </a:solidFill>
                <a:latin typeface="Helvetica Neue"/>
              </a:rPr>
              <a:t>/</a:t>
            </a:r>
            <a:r>
              <a:rPr lang="en-US" sz="2000" dirty="0" err="1">
                <a:solidFill>
                  <a:srgbClr val="616A73"/>
                </a:solidFill>
                <a:latin typeface="Helvetica Neue"/>
              </a:rPr>
              <a:t>instaclustr</a:t>
            </a:r>
            <a:r>
              <a:rPr lang="en-US" sz="2000" dirty="0">
                <a:solidFill>
                  <a:srgbClr val="616A73"/>
                </a:solidFill>
                <a:latin typeface="Helvetica Neue"/>
              </a:rPr>
              <a:t>/labs</a:t>
            </a:r>
            <a:endParaRPr sz="2000" b="0" dirty="0">
              <a:solidFill>
                <a:srgbClr val="616A73"/>
              </a:solidFill>
              <a:latin typeface="Helvetica Neu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28EB79-F015-2CE7-F5BD-E40AAD21D1DF}"/>
              </a:ext>
            </a:extLst>
          </p:cNvPr>
          <p:cNvSpPr txBox="1"/>
          <p:nvPr/>
        </p:nvSpPr>
        <p:spPr>
          <a:xfrm>
            <a:off x="571500" y="3114465"/>
            <a:ext cx="25106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Helvetica Neue"/>
              </a:rPr>
              <a:t>Announcements:</a:t>
            </a:r>
            <a:endParaRPr sz="2400" b="0" dirty="0">
              <a:solidFill>
                <a:schemeClr val="accent5">
                  <a:lumMod val="75000"/>
                </a:schemeClr>
              </a:solidFill>
              <a:latin typeface="Helvetica Neue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5FAAEB-4EFA-1786-4DB0-6600390113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5289" y="4260542"/>
            <a:ext cx="1863484" cy="18170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AAE23C-0D0C-1F00-5466-BEDD6E8B6C7C}"/>
              </a:ext>
            </a:extLst>
          </p:cNvPr>
          <p:cNvSpPr txBox="1"/>
          <p:nvPr/>
        </p:nvSpPr>
        <p:spPr>
          <a:xfrm>
            <a:off x="7934615" y="6117612"/>
            <a:ext cx="11673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616A73"/>
                </a:solidFill>
                <a:latin typeface="Helvetica Neue"/>
              </a:rPr>
              <a:t>InstaAcademy</a:t>
            </a:r>
            <a:endParaRPr sz="1200" b="1" dirty="0">
              <a:solidFill>
                <a:srgbClr val="616A73"/>
              </a:solidFill>
              <a:latin typeface="Helvetica Neu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9C6C8F-923F-FC07-67E6-A186579AAE52}"/>
              </a:ext>
            </a:extLst>
          </p:cNvPr>
          <p:cNvSpPr txBox="1"/>
          <p:nvPr/>
        </p:nvSpPr>
        <p:spPr>
          <a:xfrm>
            <a:off x="9961592" y="3825520"/>
            <a:ext cx="13914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616A73"/>
                </a:solidFill>
                <a:latin typeface="Helvetica Neue"/>
              </a:rPr>
              <a:t>Labs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9853323-7A56-BE12-7797-40335AE4F6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352" y="4279636"/>
            <a:ext cx="1863485" cy="184911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B64E-85CF-68E0-7E45-5422E3990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47B1-2C4B-8C82-4F18-364A5ADC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84048"/>
            <a:ext cx="11155680" cy="594360"/>
          </a:xfrm>
        </p:spPr>
        <p:txBody>
          <a:bodyPr/>
          <a:lstStyle/>
          <a:p>
            <a:r>
              <a:rPr lang="en-US" sz="2800" dirty="0">
                <a:latin typeface="Helvetica Neue"/>
              </a:rPr>
              <a:t>Resources</a:t>
            </a:r>
            <a:endParaRPr sz="2800" b="1" dirty="0">
              <a:solidFill>
                <a:srgbClr val="15395A"/>
              </a:solidFill>
              <a:latin typeface="Helvetica Neue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B7269-1877-84B6-C8FE-D14DC57A1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ML Commons Repo - </a:t>
            </a:r>
            <a:r>
              <a:rPr lang="en-US" sz="2400" dirty="0">
                <a:solidFill>
                  <a:srgbClr val="00897B"/>
                </a:solidFill>
                <a:latin typeface="Helvetica Neue"/>
                <a:hlinkClick r:id="rId3"/>
              </a:rPr>
              <a:t>https://github.com/opensearch-project/ml-commons</a:t>
            </a:r>
            <a:endParaRPr lang="en-US" sz="2400" dirty="0">
              <a:solidFill>
                <a:srgbClr val="00897B"/>
              </a:solidFill>
              <a:latin typeface="Helvetica Neue"/>
            </a:endParaRPr>
          </a:p>
          <a:p>
            <a:r>
              <a:rPr lang="en-US" sz="2400" dirty="0"/>
              <a:t>Chatbot Documentation - </a:t>
            </a:r>
            <a:r>
              <a:rPr lang="en-US" sz="2400" dirty="0">
                <a:solidFill>
                  <a:srgbClr val="00897B"/>
                </a:solidFill>
                <a:latin typeface="Helvetica Neue"/>
                <a:hlinkClick r:id="rId4"/>
              </a:rPr>
              <a:t>https://docs.opensearch.org/latest/tutorials/gen-ai/chatbots/build-chatbot/</a:t>
            </a:r>
            <a:endParaRPr lang="en-US" sz="2400" dirty="0">
              <a:solidFill>
                <a:srgbClr val="00897B"/>
              </a:solidFill>
              <a:latin typeface="Helvetica Neue"/>
            </a:endParaRPr>
          </a:p>
          <a:p>
            <a:endParaRPr lang="en-US" sz="2400" dirty="0">
              <a:solidFill>
                <a:srgbClr val="00897B"/>
              </a:solidFill>
              <a:latin typeface="Helvetica Neue"/>
            </a:endParaRPr>
          </a:p>
          <a:p>
            <a:r>
              <a:rPr lang="en-US" sz="2400" dirty="0"/>
              <a:t>My Demo - </a:t>
            </a:r>
            <a:r>
              <a:rPr lang="en-US" sz="2400" dirty="0">
                <a:hlinkClick r:id="rId5"/>
              </a:rPr>
              <a:t>https://github.com/akolarkunnu/experiments/tree/main/talks/agentic_search_under_the_hood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InstaAcademy</a:t>
            </a:r>
            <a:r>
              <a:rPr lang="en-US" sz="2400" dirty="0">
                <a:solidFill>
                  <a:srgbClr val="616A73"/>
                </a:solidFill>
                <a:latin typeface="Helvetica Neue"/>
              </a:rPr>
              <a:t> - </a:t>
            </a:r>
            <a:r>
              <a:rPr lang="en-US" sz="2400" dirty="0">
                <a:solidFill>
                  <a:srgbClr val="616A73"/>
                </a:solidFill>
                <a:latin typeface="Helvetica Neue"/>
                <a:hlinkClick r:id="rId6"/>
              </a:rPr>
              <a:t>https://www.instaclustr.com/instacademy-courses/</a:t>
            </a:r>
            <a:endParaRPr lang="en-US" sz="2400" dirty="0">
              <a:solidFill>
                <a:srgbClr val="616A73"/>
              </a:solidFill>
              <a:latin typeface="Helvetica Neue"/>
            </a:endParaRPr>
          </a:p>
          <a:p>
            <a:r>
              <a:rPr lang="en-US" sz="2400" dirty="0" err="1"/>
              <a:t>Instaclustr</a:t>
            </a:r>
            <a:r>
              <a:rPr lang="en-US" sz="2400" dirty="0"/>
              <a:t> Labs </a:t>
            </a:r>
            <a:r>
              <a:rPr lang="en-US" sz="2400" dirty="0">
                <a:solidFill>
                  <a:srgbClr val="616A73"/>
                </a:solidFill>
                <a:latin typeface="Helvetica Neue"/>
              </a:rPr>
              <a:t>- </a:t>
            </a:r>
            <a:r>
              <a:rPr lang="en-US" sz="2400" dirty="0">
                <a:solidFill>
                  <a:srgbClr val="616A73"/>
                </a:solidFill>
                <a:latin typeface="Helvetica Neue"/>
                <a:hlinkClick r:id="rId7"/>
              </a:rPr>
              <a:t>https://github.com/instaclustr/labs</a:t>
            </a:r>
            <a:endParaRPr lang="en-US" sz="2400" dirty="0">
              <a:solidFill>
                <a:srgbClr val="616A73"/>
              </a:solidFill>
              <a:latin typeface="Helvetica Neue"/>
            </a:endParaRPr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 descr="netapp_instaclustr_logo.png">
            <a:extLst>
              <a:ext uri="{FF2B5EF4-FFF2-40B4-BE49-F238E27FC236}">
                <a16:creationId xmlns:a16="http://schemas.microsoft.com/office/drawing/2014/main" id="{C614C26D-9D13-26F0-0916-D538113E4C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02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7634-EF7A-4403-1B5B-639A6B48D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07DF-B32D-5279-72F6-43FD58F8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" cy="91440"/>
          </a:xfrm>
        </p:spPr>
        <p:txBody>
          <a:bodyPr/>
          <a:lstStyle/>
          <a:p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1D6EE-C93B-9304-5C84-A24981627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21426" y="2759765"/>
            <a:ext cx="6520070" cy="1338470"/>
          </a:xfrm>
        </p:spPr>
        <p:txBody>
          <a:bodyPr/>
          <a:lstStyle/>
          <a:p>
            <a:pPr marL="50800" indent="0">
              <a:buNone/>
            </a:pPr>
            <a:r>
              <a:rPr lang="en-US" sz="4000" dirty="0"/>
              <a:t>Thank You</a:t>
            </a:r>
            <a:endParaRPr sz="4000" dirty="0"/>
          </a:p>
        </p:txBody>
      </p:sp>
      <p:pic>
        <p:nvPicPr>
          <p:cNvPr id="12" name="Picture 11" descr="netapp_instaclustr_logo.png">
            <a:extLst>
              <a:ext uri="{FF2B5EF4-FFF2-40B4-BE49-F238E27FC236}">
                <a16:creationId xmlns:a16="http://schemas.microsoft.com/office/drawing/2014/main" id="{664E42BB-EC54-E381-DC39-A4C4BFCA3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82512"/>
            <a:ext cx="1463040" cy="34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8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17431</TotalTime>
  <Words>4333</Words>
  <Application>Microsoft Macintosh PowerPoint</Application>
  <PresentationFormat>Widescreen</PresentationFormat>
  <Paragraphs>444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Helvetica Neue</vt:lpstr>
      <vt:lpstr>Menlo</vt:lpstr>
      <vt:lpstr>Custom Design</vt:lpstr>
      <vt:lpstr>Office Theme</vt:lpstr>
      <vt:lpstr>Agentic Search: Under the Hood</vt:lpstr>
      <vt:lpstr>Speaker introduction</vt:lpstr>
      <vt:lpstr>Today’s journey</vt:lpstr>
      <vt:lpstr>What an agentic search solution needs</vt:lpstr>
      <vt:lpstr>Connectors: how OpenSearch reaches models and tools</vt:lpstr>
      <vt:lpstr>Models: the reasoning engine</vt:lpstr>
      <vt:lpstr>Agent types — choose an orchestration pattern</vt:lpstr>
      <vt:lpstr>Tools and memory define the agent’s operating boundary</vt:lpstr>
      <vt:lpstr>Native tools the agent can invoke</vt:lpstr>
      <vt:lpstr>Live chatbot demo</vt:lpstr>
      <vt:lpstr>Demo path: build your own chatbot</vt:lpstr>
      <vt:lpstr>Now go under the hood</vt:lpstr>
      <vt:lpstr>Connector type hierarchy</vt:lpstr>
      <vt:lpstr>Connectors</vt:lpstr>
      <vt:lpstr>Connectors</vt:lpstr>
      <vt:lpstr>Connectors</vt:lpstr>
      <vt:lpstr>Tools</vt:lpstr>
      <vt:lpstr>Agent runner hierarchy</vt:lpstr>
      <vt:lpstr>End-to-end execution architecture</vt:lpstr>
      <vt:lpstr>Agent _execute — call sequence</vt:lpstr>
      <vt:lpstr>Agent type routing</vt:lpstr>
      <vt:lpstr>The common runner contract</vt:lpstr>
      <vt:lpstr>Conversational agent</vt:lpstr>
      <vt:lpstr>Flow agent</vt:lpstr>
      <vt:lpstr>Conversational Flow agent</vt:lpstr>
      <vt:lpstr>External MCP tools — same Tool.run() contract</vt:lpstr>
      <vt:lpstr>Agents with MCP Tools</vt:lpstr>
      <vt:lpstr>Chat MCP listing — call sequence</vt:lpstr>
      <vt:lpstr>MCP invoke: merge then callTool</vt:lpstr>
      <vt:lpstr>AgentUtils</vt:lpstr>
      <vt:lpstr>MCP discovery: listTools becomes MLToolSpec</vt:lpstr>
      <vt:lpstr>Extend and debug</vt:lpstr>
      <vt:lpstr>Key takeaways</vt:lpstr>
      <vt:lpstr>PowerPoint Presentation</vt:lpstr>
      <vt:lpstr>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Kolarkunnu, Muneer</cp:lastModifiedBy>
  <cp:revision>69</cp:revision>
  <dcterms:created xsi:type="dcterms:W3CDTF">2016-08-09T14:32:52Z</dcterms:created>
  <dcterms:modified xsi:type="dcterms:W3CDTF">2026-09-22T14:30:25Z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6cbbcc7-4a82-45b2-a240-7f34a87e6af0_Enabled">
    <vt:lpwstr>true</vt:lpwstr>
  </property>
  <property fmtid="{D5CDD505-2E9C-101B-9397-08002B2CF9AE}" pid="3" name="MSIP_Label_06cbbcc7-4a82-45b2-a240-7f34a87e6af0_SetDate">
    <vt:lpwstr>2026-09-09T12:03:49Z</vt:lpwstr>
  </property>
  <property fmtid="{D5CDD505-2E9C-101B-9397-08002B2CF9AE}" pid="4" name="MSIP_Label_06cbbcc7-4a82-45b2-a240-7f34a87e6af0_Method">
    <vt:lpwstr>Privileged</vt:lpwstr>
  </property>
  <property fmtid="{D5CDD505-2E9C-101B-9397-08002B2CF9AE}" pid="5" name="MSIP_Label_06cbbcc7-4a82-45b2-a240-7f34a87e6af0_Name">
    <vt:lpwstr>NetApp - Public</vt:lpwstr>
  </property>
  <property fmtid="{D5CDD505-2E9C-101B-9397-08002B2CF9AE}" pid="6" name="MSIP_Label_06cbbcc7-4a82-45b2-a240-7f34a87e6af0_SiteId">
    <vt:lpwstr>4b0911a0-929b-4715-944b-c03745165b3a</vt:lpwstr>
  </property>
  <property fmtid="{D5CDD505-2E9C-101B-9397-08002B2CF9AE}" pid="7" name="MSIP_Label_06cbbcc7-4a82-45b2-a240-7f34a87e6af0_ActionId">
    <vt:lpwstr>50ff1b94-f704-4dee-b8ca-1643f621abe4</vt:lpwstr>
  </property>
  <property fmtid="{D5CDD505-2E9C-101B-9397-08002B2CF9AE}" pid="8" name="MSIP_Label_06cbbcc7-4a82-45b2-a240-7f34a87e6af0_ContentBits">
    <vt:lpwstr>0</vt:lpwstr>
  </property>
  <property fmtid="{D5CDD505-2E9C-101B-9397-08002B2CF9AE}" pid="9" name="MSIP_Label_06cbbcc7-4a82-45b2-a240-7f34a87e6af0_Tag">
    <vt:lpwstr>50, 0, 1, 1</vt:lpwstr>
  </property>
</Properties>
</file>